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4" r:id="rId4"/>
    <p:sldId id="267" r:id="rId5"/>
    <p:sldId id="260" r:id="rId6"/>
    <p:sldId id="261" r:id="rId7"/>
    <p:sldId id="262" r:id="rId8"/>
    <p:sldId id="263" r:id="rId9"/>
    <p:sldId id="264" r:id="rId10"/>
    <p:sldId id="265" r:id="rId11"/>
    <p:sldId id="266" r:id="rId12"/>
    <p:sldId id="272" r:id="rId13"/>
    <p:sldId id="273" r:id="rId14"/>
    <p:sldId id="269" r:id="rId15"/>
    <p:sldId id="268" r:id="rId16"/>
    <p:sldId id="270" r:id="rId17"/>
    <p:sldId id="271" r:id="rId18"/>
    <p:sldId id="276"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785B559-D57F-8ABA-7938-487CBAA61380}" name="Werth, Aaron (awwerth42)" initials="WA" userId="S::awwerth42@tntech.edu::a550e7e1-9c0c-48ab-81b1-6b4df635cde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C9833E-C170-4D1D-9C9B-AB658E1333C9}" v="1" dt="2026-07-28T23:47:25.398"/>
    <p1510:client id="{B550E9B6-613A-819C-0E1B-64D980D0CCE0}" v="14" dt="2026-07-28T22:41:14.513"/>
    <p1510:client id="{BD2BB1C4-121A-3DE9-628D-BF5CBD37BCA9}" v="102" dt="2026-07-28T02:14:27.360"/>
    <p1510:client id="{C35EEAEA-99B3-B4D7-EF0D-A0AF036E6E4C}" v="6" dt="2026-07-27T02:21:17.347"/>
    <p1510:client id="{EB1636C5-7192-D9F9-93A7-CAC391E50C83}" v="1" dt="2026-07-28T23:46:05.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6.mp4"/><Relationship Id="rId1" Type="http://schemas.microsoft.com/office/2007/relationships/media" Target="../media/media6.mp4"/><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8.mp4"/><Relationship Id="rId1" Type="http://schemas.microsoft.com/office/2007/relationships/media" Target="../media/media8.mp4"/><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9.mp4"/><Relationship Id="rId1" Type="http://schemas.microsoft.com/office/2007/relationships/media" Target="../media/media9.mp4"/><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0.mp4"/><Relationship Id="rId1" Type="http://schemas.microsoft.com/office/2007/relationships/media" Target="../media/media10.mp4"/><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1.mp4"/><Relationship Id="rId1" Type="http://schemas.microsoft.com/office/2007/relationships/media" Target="../media/media11.mp4"/><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2.mp4"/><Relationship Id="rId1" Type="http://schemas.microsoft.com/office/2007/relationships/media" Target="../media/media12.mp4"/><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3.mp4"/><Relationship Id="rId1" Type="http://schemas.microsoft.com/office/2007/relationships/media" Target="../media/media13.mp4"/><Relationship Id="rId5" Type="http://schemas.openxmlformats.org/officeDocument/2006/relationships/image" Target="../media/image2.pn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4.mp4"/><Relationship Id="rId1" Type="http://schemas.microsoft.com/office/2007/relationships/media" Target="../media/media14.mp4"/><Relationship Id="rId5" Type="http://schemas.openxmlformats.org/officeDocument/2006/relationships/image" Target="../media/image2.png"/><Relationship Id="rId4" Type="http://schemas.openxmlformats.org/officeDocument/2006/relationships/image" Target="../media/image12.sv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5.mp4"/><Relationship Id="rId1" Type="http://schemas.microsoft.com/office/2007/relationships/media" Target="../media/media15.mp4"/><Relationship Id="rId5" Type="http://schemas.openxmlformats.org/officeDocument/2006/relationships/image" Target="../media/image2.png"/><Relationship Id="rId4" Type="http://schemas.openxmlformats.org/officeDocument/2006/relationships/image" Target="../media/image13.sv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6.mp4"/><Relationship Id="rId1" Type="http://schemas.microsoft.com/office/2007/relationships/media" Target="../media/media16.mp4"/><Relationship Id="rId5" Type="http://schemas.openxmlformats.org/officeDocument/2006/relationships/image" Target="../media/image2.png"/><Relationship Id="rId4" Type="http://schemas.openxmlformats.org/officeDocument/2006/relationships/image" Target="../media/image14.sv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7.mp4"/><Relationship Id="rId1" Type="http://schemas.microsoft.com/office/2007/relationships/media" Target="../media/media17.mp4"/><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video" Target="../media/media18.mp4"/><Relationship Id="rId1" Type="http://schemas.microsoft.com/office/2007/relationships/media" Target="../media/media18.mp4"/><Relationship Id="rId6" Type="http://schemas.openxmlformats.org/officeDocument/2006/relationships/hyperlink" Target="https://www.geeksforgeeks.org/artificial-intelligence/a" TargetMode="External"/><Relationship Id="rId5" Type="http://schemas.openxmlformats.org/officeDocument/2006/relationships/hyperlink" Target="https://www.geeksforgeeks.org/dsa/bellman-ford" TargetMode="External"/><Relationship Id="rId4" Type="http://schemas.openxmlformats.org/officeDocument/2006/relationships/hyperlink" Target="https://snap.stanford.edu/data/as-Skitte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3123"/>
            <a:ext cx="9144000" cy="2387600"/>
          </a:xfrm>
        </p:spPr>
        <p:txBody>
          <a:bodyPr/>
          <a:lstStyle/>
          <a:p>
            <a:r>
              <a:rPr lang="en-US"/>
              <a:t>Network Optimization Analysis &amp; Comparison</a:t>
            </a:r>
          </a:p>
        </p:txBody>
      </p:sp>
      <p:sp>
        <p:nvSpPr>
          <p:cNvPr id="3" name="Subtitle 2"/>
          <p:cNvSpPr>
            <a:spLocks noGrp="1"/>
          </p:cNvSpPr>
          <p:nvPr>
            <p:ph type="subTitle" idx="1"/>
          </p:nvPr>
        </p:nvSpPr>
        <p:spPr>
          <a:xfrm>
            <a:off x="1524000" y="5953352"/>
            <a:ext cx="9144000" cy="545420"/>
          </a:xfrm>
        </p:spPr>
        <p:txBody>
          <a:bodyPr vert="horz" lIns="91440" tIns="45720" rIns="91440" bIns="45720" rtlCol="0" anchor="t">
            <a:normAutofit/>
          </a:bodyPr>
          <a:lstStyle/>
          <a:p>
            <a:r>
              <a:rPr lang="en-US"/>
              <a:t>Authors: Aaron Werth, Alan Tate, Derek Nelson, Spencer Kirksey</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18089-C287-E4E0-CCF6-49E649FFEEDF}"/>
              </a:ext>
            </a:extLst>
          </p:cNvPr>
          <p:cNvSpPr>
            <a:spLocks noGrp="1"/>
          </p:cNvSpPr>
          <p:nvPr>
            <p:ph type="title"/>
          </p:nvPr>
        </p:nvSpPr>
        <p:spPr/>
        <p:txBody>
          <a:bodyPr/>
          <a:lstStyle/>
          <a:p>
            <a:r>
              <a:rPr lang="en-US"/>
              <a:t>Network Optimization Concept</a:t>
            </a:r>
          </a:p>
        </p:txBody>
      </p:sp>
      <p:sp>
        <p:nvSpPr>
          <p:cNvPr id="3" name="Content Placeholder 2">
            <a:extLst>
              <a:ext uri="{FF2B5EF4-FFF2-40B4-BE49-F238E27FC236}">
                <a16:creationId xmlns:a16="http://schemas.microsoft.com/office/drawing/2014/main" id="{DBA5BE32-174E-3F05-B8C5-F6AC86DD08BC}"/>
              </a:ext>
            </a:extLst>
          </p:cNvPr>
          <p:cNvSpPr>
            <a:spLocks noGrp="1"/>
          </p:cNvSpPr>
          <p:nvPr>
            <p:ph idx="1"/>
          </p:nvPr>
        </p:nvSpPr>
        <p:spPr/>
        <p:txBody>
          <a:bodyPr vert="horz" lIns="91440" tIns="45720" rIns="91440" bIns="45720" rtlCol="0" anchor="t">
            <a:normAutofit lnSpcReduction="10000"/>
          </a:bodyPr>
          <a:lstStyle/>
          <a:p>
            <a:pPr marL="0" indent="0">
              <a:buNone/>
            </a:pPr>
            <a:r>
              <a:rPr lang="en-US"/>
              <a:t>Networks use routing to find the best path between two locations in a network, with the locations either being in computer network or a transportation system.</a:t>
            </a:r>
          </a:p>
          <a:p>
            <a:pPr marL="0" indent="0">
              <a:buNone/>
            </a:pPr>
            <a:r>
              <a:rPr lang="en-US"/>
              <a:t>Networks can be represented and modeled as graphs by using the following:</a:t>
            </a:r>
          </a:p>
          <a:p>
            <a:r>
              <a:rPr lang="en-US"/>
              <a:t>Nodes being represented as routers, switches, or locations</a:t>
            </a:r>
          </a:p>
          <a:p>
            <a:r>
              <a:rPr lang="en-US"/>
              <a:t>Edges representing the communication links or roads</a:t>
            </a:r>
          </a:p>
          <a:p>
            <a:pPr marL="0" indent="0">
              <a:buNone/>
            </a:pPr>
            <a:r>
              <a:rPr lang="en-US"/>
              <a:t>We will be using four algorithms to compare different types of networking routes and finding the most efficient uses of the algorithms.</a:t>
            </a:r>
          </a:p>
          <a:p>
            <a:pPr marL="0" indent="0">
              <a:buNone/>
            </a:pPr>
            <a:endParaRPr lang="en-US"/>
          </a:p>
        </p:txBody>
      </p:sp>
      <p:pic>
        <p:nvPicPr>
          <p:cNvPr id="9" name="Video 8">
            <a:hlinkClick r:id="" action="ppaction://media"/>
            <a:extLst>
              <a:ext uri="{FF2B5EF4-FFF2-40B4-BE49-F238E27FC236}">
                <a16:creationId xmlns:a16="http://schemas.microsoft.com/office/drawing/2014/main" id="{8527101C-A97A-82CD-9DFC-2A56D5ECD533}"/>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4"/>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95612612"/>
      </p:ext>
    </p:extLst>
  </p:cSld>
  <p:clrMapOvr>
    <a:masterClrMapping/>
  </p:clrMapOvr>
  <mc:AlternateContent xmlns:mc="http://schemas.openxmlformats.org/markup-compatibility/2006" xmlns:p14="http://schemas.microsoft.com/office/powerpoint/2010/main">
    <mc:Choice Requires="p14">
      <p:transition spd="slow" p14:dur="2000" advTm="2476"/>
    </mc:Choice>
    <mc:Fallback xmlns="">
      <p:transition spd="slow" advTm="24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6DA1-B591-2F7C-BD38-54FB08256AC7}"/>
              </a:ext>
            </a:extLst>
          </p:cNvPr>
          <p:cNvSpPr>
            <a:spLocks noGrp="1"/>
          </p:cNvSpPr>
          <p:nvPr>
            <p:ph type="title"/>
          </p:nvPr>
        </p:nvSpPr>
        <p:spPr/>
        <p:txBody>
          <a:bodyPr/>
          <a:lstStyle/>
          <a:p>
            <a:r>
              <a:rPr lang="en-US"/>
              <a:t>Objective</a:t>
            </a:r>
          </a:p>
        </p:txBody>
      </p:sp>
      <p:sp>
        <p:nvSpPr>
          <p:cNvPr id="3" name="Content Placeholder 2">
            <a:extLst>
              <a:ext uri="{FF2B5EF4-FFF2-40B4-BE49-F238E27FC236}">
                <a16:creationId xmlns:a16="http://schemas.microsoft.com/office/drawing/2014/main" id="{27C5336C-26D6-93A6-11A7-F41C9A15CCE1}"/>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a:t>We will be analyzing 4 algorithms to find the best networking efficiency.</a:t>
            </a:r>
          </a:p>
          <a:p>
            <a:r>
              <a:rPr lang="en-US"/>
              <a:t>Dijkstra's Algorithm</a:t>
            </a:r>
          </a:p>
          <a:p>
            <a:r>
              <a:rPr lang="en-US"/>
              <a:t>Bellman-Ford Algorithm</a:t>
            </a:r>
          </a:p>
          <a:p>
            <a:r>
              <a:rPr lang="en-US"/>
              <a:t>A* Search Algorithm</a:t>
            </a:r>
          </a:p>
          <a:p>
            <a:r>
              <a:rPr lang="en-US"/>
              <a:t>Harmony Search Algorithm</a:t>
            </a:r>
          </a:p>
          <a:p>
            <a:pPr marL="0" indent="0">
              <a:buNone/>
            </a:pPr>
            <a:r>
              <a:rPr lang="en-US"/>
              <a:t>We will use 3 implementations for this research. Two of these implementations will be in Python and one will be in C++. Will we be comparing one of the Python implementations to the C++ implementation too see which code will be more efficient. Meanwhile the other Python implementation will be used to compare the algorithms on real-world datasets to see how their efficiencies differ.</a:t>
            </a:r>
          </a:p>
        </p:txBody>
      </p:sp>
      <p:pic>
        <p:nvPicPr>
          <p:cNvPr id="9" name="Video 8">
            <a:hlinkClick r:id="" action="ppaction://media"/>
            <a:extLst>
              <a:ext uri="{FF2B5EF4-FFF2-40B4-BE49-F238E27FC236}">
                <a16:creationId xmlns:a16="http://schemas.microsoft.com/office/drawing/2014/main" id="{BD12038F-2A75-F701-6DC4-B6D5DCB9EAF5}"/>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4"/>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94362374"/>
      </p:ext>
    </p:extLst>
  </p:cSld>
  <p:clrMapOvr>
    <a:masterClrMapping/>
  </p:clrMapOvr>
  <mc:AlternateContent xmlns:mc="http://schemas.openxmlformats.org/markup-compatibility/2006" xmlns:p14="http://schemas.microsoft.com/office/powerpoint/2010/main">
    <mc:Choice Requires="p14">
      <p:transition spd="slow" p14:dur="2000" advTm="1102"/>
    </mc:Choice>
    <mc:Fallback xmlns="">
      <p:transition spd="slow" advTm="11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D4413-C36D-E890-B307-D17FCBE3B773}"/>
              </a:ext>
            </a:extLst>
          </p:cNvPr>
          <p:cNvSpPr>
            <a:spLocks noGrp="1"/>
          </p:cNvSpPr>
          <p:nvPr>
            <p:ph type="title"/>
          </p:nvPr>
        </p:nvSpPr>
        <p:spPr/>
        <p:txBody>
          <a:bodyPr/>
          <a:lstStyle/>
          <a:p>
            <a:r>
              <a:rPr lang="en-US"/>
              <a:t>Dijkstra Analysis</a:t>
            </a:r>
          </a:p>
        </p:txBody>
      </p:sp>
      <p:graphicFrame>
        <p:nvGraphicFramePr>
          <p:cNvPr id="4" name="Content Placeholder 3">
            <a:extLst>
              <a:ext uri="{FF2B5EF4-FFF2-40B4-BE49-F238E27FC236}">
                <a16:creationId xmlns:a16="http://schemas.microsoft.com/office/drawing/2014/main" id="{0BEE7288-54B7-4302-77BF-3D68CB437E0D}"/>
              </a:ext>
            </a:extLst>
          </p:cNvPr>
          <p:cNvGraphicFramePr>
            <a:graphicFrameLocks noGrp="1"/>
          </p:cNvGraphicFramePr>
          <p:nvPr>
            <p:ph idx="1"/>
            <p:extLst>
              <p:ext uri="{D42A27DB-BD31-4B8C-83A1-F6EECF244321}">
                <p14:modId xmlns:p14="http://schemas.microsoft.com/office/powerpoint/2010/main" val="3943030253"/>
              </p:ext>
            </p:extLst>
          </p:nvPr>
        </p:nvGraphicFramePr>
        <p:xfrm>
          <a:off x="838200" y="1825625"/>
          <a:ext cx="10515600" cy="239351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12699128"/>
                    </a:ext>
                  </a:extLst>
                </a:gridCol>
                <a:gridCol w="5257800">
                  <a:extLst>
                    <a:ext uri="{9D8B030D-6E8A-4147-A177-3AD203B41FA5}">
                      <a16:colId xmlns:a16="http://schemas.microsoft.com/office/drawing/2014/main" val="852971117"/>
                    </a:ext>
                  </a:extLst>
                </a:gridCol>
              </a:tblGrid>
              <a:tr h="556678">
                <a:tc>
                  <a:txBody>
                    <a:bodyPr/>
                    <a:lstStyle/>
                    <a:p>
                      <a:r>
                        <a:rPr lang="en-US"/>
                        <a:t>Analysis Topic</a:t>
                      </a:r>
                    </a:p>
                  </a:txBody>
                  <a:tcPr/>
                </a:tc>
                <a:tc>
                  <a:txBody>
                    <a:bodyPr/>
                    <a:lstStyle/>
                    <a:p>
                      <a:r>
                        <a:rPr lang="en-US"/>
                        <a:t>Analysis Value</a:t>
                      </a:r>
                    </a:p>
                  </a:txBody>
                  <a:tcPr/>
                </a:tc>
                <a:extLst>
                  <a:ext uri="{0D108BD9-81ED-4DB2-BD59-A6C34878D82A}">
                    <a16:rowId xmlns:a16="http://schemas.microsoft.com/office/drawing/2014/main" val="1644018217"/>
                  </a:ext>
                </a:extLst>
              </a:tr>
              <a:tr h="556678">
                <a:tc>
                  <a:txBody>
                    <a:bodyPr/>
                    <a:lstStyle/>
                    <a:p>
                      <a:r>
                        <a:rPr lang="en-US"/>
                        <a:t>Time Complexity</a:t>
                      </a:r>
                    </a:p>
                  </a:txBody>
                  <a:tcPr/>
                </a:tc>
                <a:tc>
                  <a:txBody>
                    <a:bodyPr/>
                    <a:lstStyle/>
                    <a:p>
                      <a:pPr lvl="0">
                        <a:buNone/>
                      </a:pPr>
                      <a:r>
                        <a:rPr lang="en-US" sz="1800" b="0" i="0" u="none" strike="noStrike" noProof="0">
                          <a:latin typeface="Aptos"/>
                          <a:ea typeface="Calibri"/>
                          <a:cs typeface="Calibri"/>
                        </a:rPr>
                        <a:t>Θ(E + V log V)</a:t>
                      </a:r>
                      <a:endParaRPr lang="en-US" sz="1800">
                        <a:latin typeface="Aptos"/>
                      </a:endParaRPr>
                    </a:p>
                  </a:txBody>
                  <a:tcPr/>
                </a:tc>
                <a:extLst>
                  <a:ext uri="{0D108BD9-81ED-4DB2-BD59-A6C34878D82A}">
                    <a16:rowId xmlns:a16="http://schemas.microsoft.com/office/drawing/2014/main" val="408989435"/>
                  </a:ext>
                </a:extLst>
              </a:tr>
              <a:tr h="556678">
                <a:tc>
                  <a:txBody>
                    <a:bodyPr/>
                    <a:lstStyle/>
                    <a:p>
                      <a:r>
                        <a:rPr lang="en-US"/>
                        <a:t>Strengths</a:t>
                      </a:r>
                    </a:p>
                  </a:txBody>
                  <a:tcPr/>
                </a:tc>
                <a:tc>
                  <a:txBody>
                    <a:bodyPr/>
                    <a:lstStyle/>
                    <a:p>
                      <a:r>
                        <a:rPr lang="en-US"/>
                        <a:t>Efficient on sparse graphs, well-supported on standard libraries</a:t>
                      </a:r>
                    </a:p>
                  </a:txBody>
                  <a:tcPr/>
                </a:tc>
                <a:extLst>
                  <a:ext uri="{0D108BD9-81ED-4DB2-BD59-A6C34878D82A}">
                    <a16:rowId xmlns:a16="http://schemas.microsoft.com/office/drawing/2014/main" val="2688420833"/>
                  </a:ext>
                </a:extLst>
              </a:tr>
              <a:tr h="556678">
                <a:tc>
                  <a:txBody>
                    <a:bodyPr/>
                    <a:lstStyle/>
                    <a:p>
                      <a:r>
                        <a:rPr lang="en-US"/>
                        <a:t>Weaknesses</a:t>
                      </a:r>
                    </a:p>
                  </a:txBody>
                  <a:tcPr/>
                </a:tc>
                <a:tc>
                  <a:txBody>
                    <a:bodyPr/>
                    <a:lstStyle/>
                    <a:p>
                      <a:r>
                        <a:rPr lang="en-US"/>
                        <a:t>Requires non-negative, does not generalize multi-objective or dynamic routing</a:t>
                      </a:r>
                    </a:p>
                  </a:txBody>
                  <a:tcPr/>
                </a:tc>
                <a:extLst>
                  <a:ext uri="{0D108BD9-81ED-4DB2-BD59-A6C34878D82A}">
                    <a16:rowId xmlns:a16="http://schemas.microsoft.com/office/drawing/2014/main" val="500124053"/>
                  </a:ext>
                </a:extLst>
              </a:tr>
            </a:tbl>
          </a:graphicData>
        </a:graphic>
      </p:graphicFrame>
      <p:pic>
        <p:nvPicPr>
          <p:cNvPr id="8" name="Video 7">
            <a:hlinkClick r:id="" action="ppaction://media"/>
            <a:extLst>
              <a:ext uri="{FF2B5EF4-FFF2-40B4-BE49-F238E27FC236}">
                <a16:creationId xmlns:a16="http://schemas.microsoft.com/office/drawing/2014/main" id="{AC42818F-6CB1-DF03-C4D3-0989716443D4}"/>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4"/>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92162859"/>
      </p:ext>
    </p:extLst>
  </p:cSld>
  <p:clrMapOvr>
    <a:masterClrMapping/>
  </p:clrMapOvr>
  <mc:AlternateContent xmlns:mc="http://schemas.openxmlformats.org/markup-compatibility/2006" xmlns:p14="http://schemas.microsoft.com/office/powerpoint/2010/main">
    <mc:Choice Requires="p14">
      <p:transition spd="slow" p14:dur="2000" advTm="849"/>
    </mc:Choice>
    <mc:Fallback xmlns="">
      <p:transition spd="slow" advTm="8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5FBCC-CBCE-3B45-DA72-09473C5BBBF3}"/>
              </a:ext>
            </a:extLst>
          </p:cNvPr>
          <p:cNvSpPr>
            <a:spLocks noGrp="1"/>
          </p:cNvSpPr>
          <p:nvPr>
            <p:ph type="title"/>
          </p:nvPr>
        </p:nvSpPr>
        <p:spPr/>
        <p:txBody>
          <a:bodyPr/>
          <a:lstStyle/>
          <a:p>
            <a:r>
              <a:rPr lang="en-US"/>
              <a:t>Bellman-Ford Analysis</a:t>
            </a:r>
          </a:p>
        </p:txBody>
      </p:sp>
      <p:sp>
        <p:nvSpPr>
          <p:cNvPr id="3" name="Content Placeholder 2">
            <a:extLst>
              <a:ext uri="{FF2B5EF4-FFF2-40B4-BE49-F238E27FC236}">
                <a16:creationId xmlns:a16="http://schemas.microsoft.com/office/drawing/2014/main" id="{2E327CE8-9F53-AA47-E389-F87FF4724538}"/>
              </a:ext>
            </a:extLst>
          </p:cNvPr>
          <p:cNvSpPr>
            <a:spLocks noGrp="1"/>
          </p:cNvSpPr>
          <p:nvPr>
            <p:ph idx="1"/>
          </p:nvPr>
        </p:nvSpPr>
        <p:spPr/>
        <p:txBody>
          <a:bodyPr/>
          <a:lstStyle/>
          <a:p>
            <a:endParaRPr lang="en-US"/>
          </a:p>
        </p:txBody>
      </p:sp>
      <p:graphicFrame>
        <p:nvGraphicFramePr>
          <p:cNvPr id="5" name="Content Placeholder 3">
            <a:extLst>
              <a:ext uri="{FF2B5EF4-FFF2-40B4-BE49-F238E27FC236}">
                <a16:creationId xmlns:a16="http://schemas.microsoft.com/office/drawing/2014/main" id="{B4C9E47E-D3B2-DBEE-383A-B8E1D436D965}"/>
              </a:ext>
            </a:extLst>
          </p:cNvPr>
          <p:cNvGraphicFramePr>
            <a:graphicFrameLocks/>
          </p:cNvGraphicFramePr>
          <p:nvPr>
            <p:extLst>
              <p:ext uri="{D42A27DB-BD31-4B8C-83A1-F6EECF244321}">
                <p14:modId xmlns:p14="http://schemas.microsoft.com/office/powerpoint/2010/main" val="4128414370"/>
              </p:ext>
            </p:extLst>
          </p:nvPr>
        </p:nvGraphicFramePr>
        <p:xfrm>
          <a:off x="838200" y="1825625"/>
          <a:ext cx="10515600" cy="2393516"/>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12699128"/>
                    </a:ext>
                  </a:extLst>
                </a:gridCol>
                <a:gridCol w="5257800">
                  <a:extLst>
                    <a:ext uri="{9D8B030D-6E8A-4147-A177-3AD203B41FA5}">
                      <a16:colId xmlns:a16="http://schemas.microsoft.com/office/drawing/2014/main" val="852971117"/>
                    </a:ext>
                  </a:extLst>
                </a:gridCol>
              </a:tblGrid>
              <a:tr h="556678">
                <a:tc>
                  <a:txBody>
                    <a:bodyPr/>
                    <a:lstStyle/>
                    <a:p>
                      <a:r>
                        <a:rPr lang="en-US"/>
                        <a:t>Analysis Topic</a:t>
                      </a:r>
                    </a:p>
                  </a:txBody>
                  <a:tcPr/>
                </a:tc>
                <a:tc>
                  <a:txBody>
                    <a:bodyPr/>
                    <a:lstStyle/>
                    <a:p>
                      <a:r>
                        <a:rPr lang="en-US"/>
                        <a:t>Analysis Value</a:t>
                      </a:r>
                    </a:p>
                  </a:txBody>
                  <a:tcPr/>
                </a:tc>
                <a:extLst>
                  <a:ext uri="{0D108BD9-81ED-4DB2-BD59-A6C34878D82A}">
                    <a16:rowId xmlns:a16="http://schemas.microsoft.com/office/drawing/2014/main" val="1644018217"/>
                  </a:ext>
                </a:extLst>
              </a:tr>
              <a:tr h="556678">
                <a:tc>
                  <a:txBody>
                    <a:bodyPr/>
                    <a:lstStyle/>
                    <a:p>
                      <a:r>
                        <a:rPr lang="en-US"/>
                        <a:t>Time Complexity</a:t>
                      </a:r>
                    </a:p>
                  </a:txBody>
                  <a:tcPr/>
                </a:tc>
                <a:tc>
                  <a:txBody>
                    <a:bodyPr/>
                    <a:lstStyle/>
                    <a:p>
                      <a:pPr lvl="0">
                        <a:buNone/>
                      </a:pPr>
                      <a:r>
                        <a:rPr lang="en-US" sz="1800" b="0" i="0" u="none" strike="noStrike" noProof="0">
                          <a:latin typeface="Aptos"/>
                          <a:ea typeface="Calibri"/>
                          <a:cs typeface="Calibri"/>
                        </a:rPr>
                        <a:t>Θ(V · E) (worst case)</a:t>
                      </a:r>
                      <a:endParaRPr lang="en-US" sz="1800">
                        <a:latin typeface="Aptos"/>
                      </a:endParaRPr>
                    </a:p>
                  </a:txBody>
                  <a:tcPr/>
                </a:tc>
                <a:extLst>
                  <a:ext uri="{0D108BD9-81ED-4DB2-BD59-A6C34878D82A}">
                    <a16:rowId xmlns:a16="http://schemas.microsoft.com/office/drawing/2014/main" val="408989435"/>
                  </a:ext>
                </a:extLst>
              </a:tr>
              <a:tr h="556678">
                <a:tc>
                  <a:txBody>
                    <a:bodyPr/>
                    <a:lstStyle/>
                    <a:p>
                      <a:r>
                        <a:rPr lang="en-US"/>
                        <a:t>Strengths</a:t>
                      </a:r>
                    </a:p>
                  </a:txBody>
                  <a:tcPr/>
                </a:tc>
                <a:tc>
                  <a:txBody>
                    <a:bodyPr/>
                    <a:lstStyle/>
                    <a:p>
                      <a:pPr lvl="0">
                        <a:buNone/>
                      </a:pPr>
                      <a:r>
                        <a:rPr lang="en-US"/>
                        <a:t>Handles negative edge weights, detects negative cycles</a:t>
                      </a:r>
                    </a:p>
                  </a:txBody>
                  <a:tcPr/>
                </a:tc>
                <a:extLst>
                  <a:ext uri="{0D108BD9-81ED-4DB2-BD59-A6C34878D82A}">
                    <a16:rowId xmlns:a16="http://schemas.microsoft.com/office/drawing/2014/main" val="2688420833"/>
                  </a:ext>
                </a:extLst>
              </a:tr>
              <a:tr h="556678">
                <a:tc>
                  <a:txBody>
                    <a:bodyPr/>
                    <a:lstStyle/>
                    <a:p>
                      <a:r>
                        <a:rPr lang="en-US"/>
                        <a:t>Weaknesses</a:t>
                      </a:r>
                    </a:p>
                  </a:txBody>
                  <a:tcPr/>
                </a:tc>
                <a:tc>
                  <a:txBody>
                    <a:bodyPr/>
                    <a:lstStyle/>
                    <a:p>
                      <a:r>
                        <a:rPr lang="en-US"/>
                        <a:t>Slower than Dijkstra on large sparse graphs with non-negative weights</a:t>
                      </a:r>
                      <a:endParaRPr lang="en-US" err="1"/>
                    </a:p>
                  </a:txBody>
                  <a:tcPr/>
                </a:tc>
                <a:extLst>
                  <a:ext uri="{0D108BD9-81ED-4DB2-BD59-A6C34878D82A}">
                    <a16:rowId xmlns:a16="http://schemas.microsoft.com/office/drawing/2014/main" val="500124053"/>
                  </a:ext>
                </a:extLst>
              </a:tr>
            </a:tbl>
          </a:graphicData>
        </a:graphic>
      </p:graphicFrame>
      <p:pic>
        <p:nvPicPr>
          <p:cNvPr id="9" name="Video 8">
            <a:hlinkClick r:id="" action="ppaction://media"/>
            <a:extLst>
              <a:ext uri="{FF2B5EF4-FFF2-40B4-BE49-F238E27FC236}">
                <a16:creationId xmlns:a16="http://schemas.microsoft.com/office/drawing/2014/main" id="{74EE2DA3-A168-DE74-2FEC-61A8F91C3E94}"/>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4"/>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9056700"/>
      </p:ext>
    </p:extLst>
  </p:cSld>
  <p:clrMapOvr>
    <a:masterClrMapping/>
  </p:clrMapOvr>
  <mc:AlternateContent xmlns:mc="http://schemas.openxmlformats.org/markup-compatibility/2006" xmlns:p14="http://schemas.microsoft.com/office/powerpoint/2010/main">
    <mc:Choice Requires="p14">
      <p:transition spd="slow" p14:dur="2000" advTm="644"/>
    </mc:Choice>
    <mc:Fallback xmlns="">
      <p:transition spd="slow" advTm="6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A0CC9-D0D8-168B-EB08-B8D7AC32D4F2}"/>
              </a:ext>
            </a:extLst>
          </p:cNvPr>
          <p:cNvSpPr>
            <a:spLocks noGrp="1"/>
          </p:cNvSpPr>
          <p:nvPr>
            <p:ph type="title"/>
          </p:nvPr>
        </p:nvSpPr>
        <p:spPr/>
        <p:txBody>
          <a:bodyPr/>
          <a:lstStyle/>
          <a:p>
            <a:r>
              <a:rPr lang="en-US"/>
              <a:t>A* Search Analysis</a:t>
            </a:r>
          </a:p>
        </p:txBody>
      </p:sp>
      <p:sp>
        <p:nvSpPr>
          <p:cNvPr id="3" name="Content Placeholder 2">
            <a:extLst>
              <a:ext uri="{FF2B5EF4-FFF2-40B4-BE49-F238E27FC236}">
                <a16:creationId xmlns:a16="http://schemas.microsoft.com/office/drawing/2014/main" id="{961A89D6-2CB6-CA98-4B8A-40C43BE512F8}"/>
              </a:ext>
            </a:extLst>
          </p:cNvPr>
          <p:cNvSpPr>
            <a:spLocks noGrp="1"/>
          </p:cNvSpPr>
          <p:nvPr>
            <p:ph idx="1"/>
          </p:nvPr>
        </p:nvSpPr>
        <p:spPr/>
        <p:txBody>
          <a:bodyPr/>
          <a:lstStyle/>
          <a:p>
            <a:endParaRPr lang="en-US"/>
          </a:p>
        </p:txBody>
      </p:sp>
      <p:graphicFrame>
        <p:nvGraphicFramePr>
          <p:cNvPr id="5" name="Content Placeholder 3">
            <a:extLst>
              <a:ext uri="{FF2B5EF4-FFF2-40B4-BE49-F238E27FC236}">
                <a16:creationId xmlns:a16="http://schemas.microsoft.com/office/drawing/2014/main" id="{3419DF34-D402-3A15-33EA-14BFE779DAAF}"/>
              </a:ext>
            </a:extLst>
          </p:cNvPr>
          <p:cNvGraphicFramePr>
            <a:graphicFrameLocks/>
          </p:cNvGraphicFramePr>
          <p:nvPr>
            <p:extLst>
              <p:ext uri="{D42A27DB-BD31-4B8C-83A1-F6EECF244321}">
                <p14:modId xmlns:p14="http://schemas.microsoft.com/office/powerpoint/2010/main" val="1809298350"/>
              </p:ext>
            </p:extLst>
          </p:nvPr>
        </p:nvGraphicFramePr>
        <p:xfrm>
          <a:off x="838200" y="1825625"/>
          <a:ext cx="10515600" cy="302555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12699128"/>
                    </a:ext>
                  </a:extLst>
                </a:gridCol>
                <a:gridCol w="5257800">
                  <a:extLst>
                    <a:ext uri="{9D8B030D-6E8A-4147-A177-3AD203B41FA5}">
                      <a16:colId xmlns:a16="http://schemas.microsoft.com/office/drawing/2014/main" val="852971117"/>
                    </a:ext>
                  </a:extLst>
                </a:gridCol>
              </a:tblGrid>
              <a:tr h="556678">
                <a:tc>
                  <a:txBody>
                    <a:bodyPr/>
                    <a:lstStyle/>
                    <a:p>
                      <a:r>
                        <a:rPr lang="en-US"/>
                        <a:t>Analysis Topic</a:t>
                      </a:r>
                    </a:p>
                  </a:txBody>
                  <a:tcPr/>
                </a:tc>
                <a:tc>
                  <a:txBody>
                    <a:bodyPr/>
                    <a:lstStyle/>
                    <a:p>
                      <a:r>
                        <a:rPr lang="en-US"/>
                        <a:t>Analysis Value</a:t>
                      </a:r>
                    </a:p>
                  </a:txBody>
                  <a:tcPr/>
                </a:tc>
                <a:extLst>
                  <a:ext uri="{0D108BD9-81ED-4DB2-BD59-A6C34878D82A}">
                    <a16:rowId xmlns:a16="http://schemas.microsoft.com/office/drawing/2014/main" val="1644018217"/>
                  </a:ext>
                </a:extLst>
              </a:tr>
              <a:tr h="556678">
                <a:tc>
                  <a:txBody>
                    <a:bodyPr/>
                    <a:lstStyle/>
                    <a:p>
                      <a:r>
                        <a:rPr lang="en-US"/>
                        <a:t>Time Complexity</a:t>
                      </a:r>
                    </a:p>
                  </a:txBody>
                  <a:tcPr/>
                </a:tc>
                <a:tc>
                  <a:txBody>
                    <a:bodyPr/>
                    <a:lstStyle/>
                    <a:p>
                      <a:pPr lvl="0">
                        <a:buNone/>
                      </a:pPr>
                      <a:r>
                        <a:rPr lang="en-US" sz="1800" b="0" i="0" u="none" strike="noStrike" noProof="0">
                          <a:latin typeface="Aptos"/>
                          <a:ea typeface="Calibri"/>
                          <a:cs typeface="Calibri"/>
                        </a:rPr>
                        <a:t>Θ(E) best case (perfect heuristic)</a:t>
                      </a:r>
                    </a:p>
                    <a:p>
                      <a:pPr lvl="0" algn="l">
                        <a:lnSpc>
                          <a:spcPct val="100000"/>
                        </a:lnSpc>
                        <a:spcBef>
                          <a:spcPts val="0"/>
                        </a:spcBef>
                        <a:spcAft>
                          <a:spcPts val="0"/>
                        </a:spcAft>
                        <a:buNone/>
                      </a:pPr>
                      <a:r>
                        <a:rPr lang="en-US" sz="1800" b="0" i="0" u="none" strike="noStrike" noProof="0"/>
                        <a:t>degrades to Θ(E + V log V) when the </a:t>
                      </a:r>
                      <a:endParaRPr lang="en-US"/>
                    </a:p>
                    <a:p>
                      <a:pPr lvl="0" algn="l">
                        <a:lnSpc>
                          <a:spcPct val="100000"/>
                        </a:lnSpc>
                        <a:spcBef>
                          <a:spcPts val="0"/>
                        </a:spcBef>
                        <a:spcAft>
                          <a:spcPts val="0"/>
                        </a:spcAft>
                        <a:buNone/>
                      </a:pPr>
                      <a:r>
                        <a:rPr lang="en-US" sz="1800" b="0" i="0" u="none" strike="noStrike" noProof="0"/>
                        <a:t>heuristic gives no guidance. </a:t>
                      </a:r>
                      <a:endParaRPr lang="en-US"/>
                    </a:p>
                    <a:p>
                      <a:pPr lvl="0">
                        <a:buNone/>
                      </a:pPr>
                      <a:endParaRPr lang="en-US" sz="1800" b="0" i="0" u="none" strike="noStrike" noProof="0">
                        <a:latin typeface="Aptos"/>
                        <a:ea typeface="Calibri"/>
                        <a:cs typeface="Calibri"/>
                      </a:endParaRPr>
                    </a:p>
                  </a:txBody>
                  <a:tcPr/>
                </a:tc>
                <a:extLst>
                  <a:ext uri="{0D108BD9-81ED-4DB2-BD59-A6C34878D82A}">
                    <a16:rowId xmlns:a16="http://schemas.microsoft.com/office/drawing/2014/main" val="408989435"/>
                  </a:ext>
                </a:extLst>
              </a:tr>
              <a:tr h="556678">
                <a:tc>
                  <a:txBody>
                    <a:bodyPr/>
                    <a:lstStyle/>
                    <a:p>
                      <a:r>
                        <a:rPr lang="en-US"/>
                        <a:t>Strengths</a:t>
                      </a:r>
                    </a:p>
                  </a:txBody>
                  <a:tcPr/>
                </a:tc>
                <a:tc>
                  <a:txBody>
                    <a:bodyPr/>
                    <a:lstStyle/>
                    <a:p>
                      <a:pPr lvl="0">
                        <a:buNone/>
                      </a:pPr>
                      <a:r>
                        <a:rPr lang="en-US"/>
                        <a:t>Optimal and faster than Dijkstra when a useful heuristic exists</a:t>
                      </a:r>
                    </a:p>
                  </a:txBody>
                  <a:tcPr/>
                </a:tc>
                <a:extLst>
                  <a:ext uri="{0D108BD9-81ED-4DB2-BD59-A6C34878D82A}">
                    <a16:rowId xmlns:a16="http://schemas.microsoft.com/office/drawing/2014/main" val="2688420833"/>
                  </a:ext>
                </a:extLst>
              </a:tr>
              <a:tr h="556678">
                <a:tc>
                  <a:txBody>
                    <a:bodyPr/>
                    <a:lstStyle/>
                    <a:p>
                      <a:r>
                        <a:rPr lang="en-US"/>
                        <a:t>Weaknesses</a:t>
                      </a:r>
                    </a:p>
                  </a:txBody>
                  <a:tcPr/>
                </a:tc>
                <a:tc>
                  <a:txBody>
                    <a:bodyPr/>
                    <a:lstStyle/>
                    <a:p>
                      <a:pPr lvl="0">
                        <a:buNone/>
                      </a:pPr>
                      <a:r>
                        <a:rPr lang="en-US" sz="1800" b="0" i="0" u="none" strike="noStrike" noProof="0">
                          <a:solidFill>
                            <a:srgbClr val="000000"/>
                          </a:solidFill>
                          <a:latin typeface="Aptos"/>
                        </a:rPr>
                        <a:t>Heuristic </a:t>
                      </a:r>
                      <a:r>
                        <a:rPr lang="en-US"/>
                        <a:t>must be designed per problem, memory usage can be huge on large graphs</a:t>
                      </a:r>
                    </a:p>
                  </a:txBody>
                  <a:tcPr/>
                </a:tc>
                <a:extLst>
                  <a:ext uri="{0D108BD9-81ED-4DB2-BD59-A6C34878D82A}">
                    <a16:rowId xmlns:a16="http://schemas.microsoft.com/office/drawing/2014/main" val="500124053"/>
                  </a:ext>
                </a:extLst>
              </a:tr>
            </a:tbl>
          </a:graphicData>
        </a:graphic>
      </p:graphicFrame>
      <p:pic>
        <p:nvPicPr>
          <p:cNvPr id="8" name="Video 7">
            <a:hlinkClick r:id="" action="ppaction://media"/>
            <a:extLst>
              <a:ext uri="{FF2B5EF4-FFF2-40B4-BE49-F238E27FC236}">
                <a16:creationId xmlns:a16="http://schemas.microsoft.com/office/drawing/2014/main" id="{795C23F5-1741-935D-19FF-56375F667453}"/>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4"/>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788604004"/>
      </p:ext>
    </p:extLst>
  </p:cSld>
  <p:clrMapOvr>
    <a:masterClrMapping/>
  </p:clrMapOvr>
  <mc:AlternateContent xmlns:mc="http://schemas.openxmlformats.org/markup-compatibility/2006" xmlns:p14="http://schemas.microsoft.com/office/powerpoint/2010/main">
    <mc:Choice Requires="p14">
      <p:transition spd="slow" p14:dur="2000" advTm="731"/>
    </mc:Choice>
    <mc:Fallback xmlns="">
      <p:transition spd="slow" advTm="7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99A46-A453-53FF-B07D-594D534B6EDA}"/>
              </a:ext>
            </a:extLst>
          </p:cNvPr>
          <p:cNvSpPr>
            <a:spLocks noGrp="1"/>
          </p:cNvSpPr>
          <p:nvPr>
            <p:ph type="title"/>
          </p:nvPr>
        </p:nvSpPr>
        <p:spPr/>
        <p:txBody>
          <a:bodyPr/>
          <a:lstStyle/>
          <a:p>
            <a:r>
              <a:rPr lang="en-US"/>
              <a:t>Harmony Search Analysis</a:t>
            </a:r>
          </a:p>
        </p:txBody>
      </p:sp>
      <p:sp>
        <p:nvSpPr>
          <p:cNvPr id="3" name="Content Placeholder 2">
            <a:extLst>
              <a:ext uri="{FF2B5EF4-FFF2-40B4-BE49-F238E27FC236}">
                <a16:creationId xmlns:a16="http://schemas.microsoft.com/office/drawing/2014/main" id="{9AF1011E-1AA0-B0E4-422D-28F0C540FFA5}"/>
              </a:ext>
            </a:extLst>
          </p:cNvPr>
          <p:cNvSpPr>
            <a:spLocks noGrp="1"/>
          </p:cNvSpPr>
          <p:nvPr>
            <p:ph idx="1"/>
          </p:nvPr>
        </p:nvSpPr>
        <p:spPr/>
        <p:txBody>
          <a:bodyPr/>
          <a:lstStyle/>
          <a:p>
            <a:endParaRPr lang="en-US"/>
          </a:p>
        </p:txBody>
      </p:sp>
      <p:graphicFrame>
        <p:nvGraphicFramePr>
          <p:cNvPr id="5" name="Content Placeholder 3">
            <a:extLst>
              <a:ext uri="{FF2B5EF4-FFF2-40B4-BE49-F238E27FC236}">
                <a16:creationId xmlns:a16="http://schemas.microsoft.com/office/drawing/2014/main" id="{F4CF2E13-853F-D1A6-F9BF-39C346E79ADE}"/>
              </a:ext>
            </a:extLst>
          </p:cNvPr>
          <p:cNvGraphicFramePr>
            <a:graphicFrameLocks/>
          </p:cNvGraphicFramePr>
          <p:nvPr>
            <p:extLst>
              <p:ext uri="{D42A27DB-BD31-4B8C-83A1-F6EECF244321}">
                <p14:modId xmlns:p14="http://schemas.microsoft.com/office/powerpoint/2010/main" val="2343386101"/>
              </p:ext>
            </p:extLst>
          </p:nvPr>
        </p:nvGraphicFramePr>
        <p:xfrm>
          <a:off x="838200" y="1825625"/>
          <a:ext cx="10515600" cy="329987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12699128"/>
                    </a:ext>
                  </a:extLst>
                </a:gridCol>
                <a:gridCol w="5257800">
                  <a:extLst>
                    <a:ext uri="{9D8B030D-6E8A-4147-A177-3AD203B41FA5}">
                      <a16:colId xmlns:a16="http://schemas.microsoft.com/office/drawing/2014/main" val="852971117"/>
                    </a:ext>
                  </a:extLst>
                </a:gridCol>
              </a:tblGrid>
              <a:tr h="556678">
                <a:tc>
                  <a:txBody>
                    <a:bodyPr/>
                    <a:lstStyle/>
                    <a:p>
                      <a:r>
                        <a:rPr lang="en-US"/>
                        <a:t>Analysis Topic</a:t>
                      </a:r>
                    </a:p>
                  </a:txBody>
                  <a:tcPr/>
                </a:tc>
                <a:tc>
                  <a:txBody>
                    <a:bodyPr/>
                    <a:lstStyle/>
                    <a:p>
                      <a:r>
                        <a:rPr lang="en-US"/>
                        <a:t>Analysis Value</a:t>
                      </a:r>
                    </a:p>
                  </a:txBody>
                  <a:tcPr/>
                </a:tc>
                <a:extLst>
                  <a:ext uri="{0D108BD9-81ED-4DB2-BD59-A6C34878D82A}">
                    <a16:rowId xmlns:a16="http://schemas.microsoft.com/office/drawing/2014/main" val="1644018217"/>
                  </a:ext>
                </a:extLst>
              </a:tr>
              <a:tr h="556678">
                <a:tc>
                  <a:txBody>
                    <a:bodyPr/>
                    <a:lstStyle/>
                    <a:p>
                      <a:r>
                        <a:rPr lang="en-US"/>
                        <a:t>Time Complexity</a:t>
                      </a:r>
                    </a:p>
                  </a:txBody>
                  <a:tcPr/>
                </a:tc>
                <a:tc>
                  <a:txBody>
                    <a:bodyPr/>
                    <a:lstStyle/>
                    <a:p>
                      <a:pPr lvl="0">
                        <a:buNone/>
                      </a:pPr>
                      <a:r>
                        <a:rPr lang="en-US" sz="1800" b="0" i="0" u="none" strike="noStrike" noProof="0">
                          <a:latin typeface="Aptos"/>
                          <a:ea typeface="Calibri"/>
                          <a:cs typeface="Calibri"/>
                        </a:rPr>
                        <a:t>Θ(I · HMS · V)</a:t>
                      </a:r>
                      <a:br>
                        <a:rPr lang="en-US" sz="1800" b="0" i="0" u="none" strike="noStrike" noProof="0">
                          <a:latin typeface="Aptos"/>
                          <a:ea typeface="Calibri"/>
                          <a:cs typeface="Calibri"/>
                        </a:rPr>
                      </a:br>
                      <a:r>
                        <a:rPr lang="en-US" sz="1800" b="0" i="0" u="none" strike="noStrike" noProof="0">
                          <a:latin typeface="Aptos"/>
                          <a:ea typeface="Calibri"/>
                          <a:cs typeface="Calibri"/>
                        </a:rPr>
                        <a:t>I = Iterations, HMS=memory size, V=path length</a:t>
                      </a:r>
                      <a:endParaRPr lang="en-US" sz="1800">
                        <a:latin typeface="Aptos"/>
                      </a:endParaRPr>
                    </a:p>
                  </a:txBody>
                  <a:tcPr/>
                </a:tc>
                <a:extLst>
                  <a:ext uri="{0D108BD9-81ED-4DB2-BD59-A6C34878D82A}">
                    <a16:rowId xmlns:a16="http://schemas.microsoft.com/office/drawing/2014/main" val="408989435"/>
                  </a:ext>
                </a:extLst>
              </a:tr>
              <a:tr h="556678">
                <a:tc>
                  <a:txBody>
                    <a:bodyPr/>
                    <a:lstStyle/>
                    <a:p>
                      <a:r>
                        <a:rPr lang="en-US"/>
                        <a:t>Strengths</a:t>
                      </a:r>
                    </a:p>
                  </a:txBody>
                  <a:tcPr/>
                </a:tc>
                <a:tc>
                  <a:txBody>
                    <a:bodyPr/>
                    <a:lstStyle/>
                    <a:p>
                      <a:pPr lvl="0">
                        <a:buNone/>
                      </a:pPr>
                      <a:r>
                        <a:rPr lang="en-US"/>
                        <a:t>Gradient-free, works on discrete and combinatorial spaces, balances exploitation with exploration, straightforward to hybridize</a:t>
                      </a:r>
                    </a:p>
                  </a:txBody>
                  <a:tcPr/>
                </a:tc>
                <a:extLst>
                  <a:ext uri="{0D108BD9-81ED-4DB2-BD59-A6C34878D82A}">
                    <a16:rowId xmlns:a16="http://schemas.microsoft.com/office/drawing/2014/main" val="2688420833"/>
                  </a:ext>
                </a:extLst>
              </a:tr>
              <a:tr h="556678">
                <a:tc>
                  <a:txBody>
                    <a:bodyPr/>
                    <a:lstStyle/>
                    <a:p>
                      <a:r>
                        <a:rPr lang="en-US"/>
                        <a:t>Weaknesses</a:t>
                      </a:r>
                    </a:p>
                  </a:txBody>
                  <a:tcPr/>
                </a:tc>
                <a:tc>
                  <a:txBody>
                    <a:bodyPr/>
                    <a:lstStyle/>
                    <a:p>
                      <a:r>
                        <a:rPr lang="en-US"/>
                        <a:t>No convergence guaranteed for discrete problems, solution quality is sensitive to </a:t>
                      </a:r>
                      <a:r>
                        <a:rPr lang="en-US" sz="1800" b="0" i="0" u="none" strike="noStrike" noProof="0">
                          <a:latin typeface="Aptos"/>
                          <a:ea typeface="Calibri"/>
                          <a:cs typeface="Calibri"/>
                        </a:rPr>
                        <a:t>HMCR, PAR, and HMS settings, slower than exact methods on small graphs</a:t>
                      </a:r>
                      <a:r>
                        <a:rPr lang="en-US">
                          <a:latin typeface="Aptos"/>
                        </a:rPr>
                        <a:t> </a:t>
                      </a:r>
                      <a:endParaRPr lang="en-US" err="1">
                        <a:latin typeface="Aptos"/>
                      </a:endParaRPr>
                    </a:p>
                  </a:txBody>
                  <a:tcPr/>
                </a:tc>
                <a:extLst>
                  <a:ext uri="{0D108BD9-81ED-4DB2-BD59-A6C34878D82A}">
                    <a16:rowId xmlns:a16="http://schemas.microsoft.com/office/drawing/2014/main" val="500124053"/>
                  </a:ext>
                </a:extLst>
              </a:tr>
            </a:tbl>
          </a:graphicData>
        </a:graphic>
      </p:graphicFrame>
      <p:pic>
        <p:nvPicPr>
          <p:cNvPr id="8" name="Video 7">
            <a:hlinkClick r:id="" action="ppaction://media"/>
            <a:extLst>
              <a:ext uri="{FF2B5EF4-FFF2-40B4-BE49-F238E27FC236}">
                <a16:creationId xmlns:a16="http://schemas.microsoft.com/office/drawing/2014/main" id="{9174F506-C4ED-FA85-F0A5-9B202537B8D2}"/>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4"/>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191878940"/>
      </p:ext>
    </p:extLst>
  </p:cSld>
  <p:clrMapOvr>
    <a:masterClrMapping/>
  </p:clrMapOvr>
  <mc:AlternateContent xmlns:mc="http://schemas.openxmlformats.org/markup-compatibility/2006" xmlns:p14="http://schemas.microsoft.com/office/powerpoint/2010/main">
    <mc:Choice Requires="p14">
      <p:transition spd="slow" p14:dur="2000" advTm="110"/>
    </mc:Choice>
    <mc:Fallback xmlns="">
      <p:transition spd="slow" advTm="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55C1A-EFA0-0A09-A196-52A34C2902A6}"/>
              </a:ext>
            </a:extLst>
          </p:cNvPr>
          <p:cNvSpPr>
            <a:spLocks noGrp="1"/>
          </p:cNvSpPr>
          <p:nvPr>
            <p:ph type="title"/>
          </p:nvPr>
        </p:nvSpPr>
        <p:spPr/>
        <p:txBody>
          <a:bodyPr/>
          <a:lstStyle/>
          <a:p>
            <a:r>
              <a:rPr lang="en-US"/>
              <a:t>Dijkstra Graph Runtime Code Analysis</a:t>
            </a:r>
          </a:p>
        </p:txBody>
      </p:sp>
      <p:pic>
        <p:nvPicPr>
          <p:cNvPr id="5" name="Content Placeholder 4">
            <a:extLst>
              <a:ext uri="{FF2B5EF4-FFF2-40B4-BE49-F238E27FC236}">
                <a16:creationId xmlns:a16="http://schemas.microsoft.com/office/drawing/2014/main" id="{48E4E637-B5A0-9E32-D83A-71EF8B55628D}"/>
              </a:ext>
            </a:extLst>
          </p:cNvPr>
          <p:cNvPicPr>
            <a:picLocks noGrp="1" noChangeAspect="1"/>
          </p:cNvPicPr>
          <p:nvPr>
            <p:ph idx="1"/>
          </p:nvPr>
        </p:nvPicPr>
        <p:blipFill>
          <a:blip r:embed="rId4"/>
          <a:stretch>
            <a:fillRect/>
          </a:stretch>
        </p:blipFill>
        <p:spPr>
          <a:xfrm>
            <a:off x="0" y="2815294"/>
            <a:ext cx="6096000" cy="4041143"/>
          </a:xfrm>
          <a:prstGeom prst="rect">
            <a:avLst/>
          </a:prstGeom>
        </p:spPr>
      </p:pic>
      <p:sp>
        <p:nvSpPr>
          <p:cNvPr id="6" name="TextBox 5">
            <a:extLst>
              <a:ext uri="{FF2B5EF4-FFF2-40B4-BE49-F238E27FC236}">
                <a16:creationId xmlns:a16="http://schemas.microsoft.com/office/drawing/2014/main" id="{D788B538-5336-7F00-0B3D-78252FBBF48B}"/>
              </a:ext>
            </a:extLst>
          </p:cNvPr>
          <p:cNvSpPr txBox="1"/>
          <p:nvPr/>
        </p:nvSpPr>
        <p:spPr>
          <a:xfrm>
            <a:off x="260847" y="2099820"/>
            <a:ext cx="33649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Implementation</a:t>
            </a:r>
          </a:p>
        </p:txBody>
      </p:sp>
      <p:pic>
        <p:nvPicPr>
          <p:cNvPr id="3" name="Picture 2">
            <a:extLst>
              <a:ext uri="{FF2B5EF4-FFF2-40B4-BE49-F238E27FC236}">
                <a16:creationId xmlns:a16="http://schemas.microsoft.com/office/drawing/2014/main" id="{F4589C38-91C8-D0DE-C49F-42D733CB0935}"/>
              </a:ext>
            </a:extLst>
          </p:cNvPr>
          <p:cNvPicPr>
            <a:picLocks noChangeAspect="1"/>
          </p:cNvPicPr>
          <p:nvPr/>
        </p:nvPicPr>
        <p:blipFill>
          <a:blip r:embed="rId5"/>
          <a:stretch>
            <a:fillRect/>
          </a:stretch>
        </p:blipFill>
        <p:spPr>
          <a:xfrm>
            <a:off x="6415314" y="2815771"/>
            <a:ext cx="5776686" cy="3614058"/>
          </a:xfrm>
          <a:prstGeom prst="rect">
            <a:avLst/>
          </a:prstGeom>
        </p:spPr>
      </p:pic>
      <p:sp>
        <p:nvSpPr>
          <p:cNvPr id="4" name="TextBox 3">
            <a:extLst>
              <a:ext uri="{FF2B5EF4-FFF2-40B4-BE49-F238E27FC236}">
                <a16:creationId xmlns:a16="http://schemas.microsoft.com/office/drawing/2014/main" id="{F0DDF1D8-46EA-6B4A-1CF4-CAC1287A0A2A}"/>
              </a:ext>
            </a:extLst>
          </p:cNvPr>
          <p:cNvSpPr txBox="1"/>
          <p:nvPr/>
        </p:nvSpPr>
        <p:spPr>
          <a:xfrm>
            <a:off x="7073265" y="2223026"/>
            <a:ext cx="456153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 Implementation</a:t>
            </a:r>
          </a:p>
        </p:txBody>
      </p:sp>
      <p:pic>
        <p:nvPicPr>
          <p:cNvPr id="10" name="Video 9">
            <a:hlinkClick r:id="" action="ppaction://media"/>
            <a:extLst>
              <a:ext uri="{FF2B5EF4-FFF2-40B4-BE49-F238E27FC236}">
                <a16:creationId xmlns:a16="http://schemas.microsoft.com/office/drawing/2014/main" id="{F202B8E9-F180-F1C6-BD0E-38263F584D6F}"/>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6"/>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21097700"/>
      </p:ext>
    </p:extLst>
  </p:cSld>
  <p:clrMapOvr>
    <a:masterClrMapping/>
  </p:clrMapOvr>
  <mc:AlternateContent xmlns:mc="http://schemas.openxmlformats.org/markup-compatibility/2006" xmlns:p14="http://schemas.microsoft.com/office/powerpoint/2010/main">
    <mc:Choice Requires="p14">
      <p:transition spd="slow" p14:dur="2000" advTm="562"/>
    </mc:Choice>
    <mc:Fallback xmlns="">
      <p:transition spd="slow" advTm="5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5F0A3-5338-F403-9B29-3287DE085ED3}"/>
              </a:ext>
            </a:extLst>
          </p:cNvPr>
          <p:cNvSpPr>
            <a:spLocks noGrp="1"/>
          </p:cNvSpPr>
          <p:nvPr>
            <p:ph type="title"/>
          </p:nvPr>
        </p:nvSpPr>
        <p:spPr/>
        <p:txBody>
          <a:bodyPr/>
          <a:lstStyle/>
          <a:p>
            <a:r>
              <a:rPr lang="en-US"/>
              <a:t>Bellman Ford Graph Runtime Code Analysis</a:t>
            </a:r>
          </a:p>
        </p:txBody>
      </p:sp>
      <p:pic>
        <p:nvPicPr>
          <p:cNvPr id="4" name="Content Placeholder 3">
            <a:extLst>
              <a:ext uri="{FF2B5EF4-FFF2-40B4-BE49-F238E27FC236}">
                <a16:creationId xmlns:a16="http://schemas.microsoft.com/office/drawing/2014/main" id="{9D91A33A-6C17-15B5-8A17-1D06ED597C7A}"/>
              </a:ext>
            </a:extLst>
          </p:cNvPr>
          <p:cNvPicPr>
            <a:picLocks noGrp="1" noChangeAspect="1"/>
          </p:cNvPicPr>
          <p:nvPr>
            <p:ph idx="1"/>
          </p:nvPr>
        </p:nvPicPr>
        <p:blipFill>
          <a:blip r:embed="rId4"/>
          <a:stretch>
            <a:fillRect/>
          </a:stretch>
        </p:blipFill>
        <p:spPr>
          <a:xfrm>
            <a:off x="0" y="2815294"/>
            <a:ext cx="6096000" cy="4041143"/>
          </a:xfrm>
          <a:prstGeom prst="rect">
            <a:avLst/>
          </a:prstGeom>
        </p:spPr>
      </p:pic>
      <p:sp>
        <p:nvSpPr>
          <p:cNvPr id="5" name="TextBox 4">
            <a:extLst>
              <a:ext uri="{FF2B5EF4-FFF2-40B4-BE49-F238E27FC236}">
                <a16:creationId xmlns:a16="http://schemas.microsoft.com/office/drawing/2014/main" id="{FBDBFFBD-752D-7AD0-EF97-F71E58491441}"/>
              </a:ext>
            </a:extLst>
          </p:cNvPr>
          <p:cNvSpPr txBox="1"/>
          <p:nvPr/>
        </p:nvSpPr>
        <p:spPr>
          <a:xfrm>
            <a:off x="480992" y="2232022"/>
            <a:ext cx="48387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Implementation</a:t>
            </a:r>
          </a:p>
        </p:txBody>
      </p:sp>
      <p:pic>
        <p:nvPicPr>
          <p:cNvPr id="3" name="Picture 2">
            <a:extLst>
              <a:ext uri="{FF2B5EF4-FFF2-40B4-BE49-F238E27FC236}">
                <a16:creationId xmlns:a16="http://schemas.microsoft.com/office/drawing/2014/main" id="{9663A6F6-AF75-8BDC-660E-ED02D9A58C1F}"/>
              </a:ext>
            </a:extLst>
          </p:cNvPr>
          <p:cNvPicPr>
            <a:picLocks noChangeAspect="1"/>
          </p:cNvPicPr>
          <p:nvPr/>
        </p:nvPicPr>
        <p:blipFill>
          <a:blip r:embed="rId5"/>
          <a:stretch>
            <a:fillRect/>
          </a:stretch>
        </p:blipFill>
        <p:spPr>
          <a:xfrm>
            <a:off x="6393541" y="3098800"/>
            <a:ext cx="5573487" cy="3468916"/>
          </a:xfrm>
          <a:prstGeom prst="rect">
            <a:avLst/>
          </a:prstGeom>
        </p:spPr>
      </p:pic>
      <p:sp>
        <p:nvSpPr>
          <p:cNvPr id="6" name="TextBox 5">
            <a:extLst>
              <a:ext uri="{FF2B5EF4-FFF2-40B4-BE49-F238E27FC236}">
                <a16:creationId xmlns:a16="http://schemas.microsoft.com/office/drawing/2014/main" id="{8EB8E815-BA62-8219-0C98-187E688114D6}"/>
              </a:ext>
            </a:extLst>
          </p:cNvPr>
          <p:cNvSpPr txBox="1"/>
          <p:nvPr/>
        </p:nvSpPr>
        <p:spPr>
          <a:xfrm>
            <a:off x="7102135" y="2396248"/>
            <a:ext cx="418621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 Implementation</a:t>
            </a:r>
          </a:p>
        </p:txBody>
      </p:sp>
      <p:pic>
        <p:nvPicPr>
          <p:cNvPr id="10" name="Picture 9">
            <a:hlinkClick r:id="" action="ppaction://media"/>
            <a:extLst>
              <a:ext uri="{FF2B5EF4-FFF2-40B4-BE49-F238E27FC236}">
                <a16:creationId xmlns:a16="http://schemas.microsoft.com/office/drawing/2014/main" id="{FF68E36A-E981-890A-92C2-577EF425B90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9906000" y="5143500"/>
            <a:ext cx="2285999" cy="1714500"/>
          </a:xfrm>
          <a:prstGeom prst="rect">
            <a:avLst/>
          </a:prstGeom>
        </p:spPr>
      </p:pic>
    </p:spTree>
    <p:extLst>
      <p:ext uri="{BB962C8B-B14F-4D97-AF65-F5344CB8AC3E}">
        <p14:creationId xmlns:p14="http://schemas.microsoft.com/office/powerpoint/2010/main" val="4087219110"/>
      </p:ext>
    </p:extLst>
  </p:cSld>
  <p:clrMapOvr>
    <a:masterClrMapping/>
  </p:clrMapOvr>
  <mc:AlternateContent xmlns:mc="http://schemas.openxmlformats.org/markup-compatibility/2006" xmlns:p14="http://schemas.microsoft.com/office/powerpoint/2010/main">
    <mc:Choice Requires="p14">
      <p:transition spd="slow" p14:dur="2000" advTm="36"/>
    </mc:Choice>
    <mc:Fallback xmlns="">
      <p:transition spd="slow" advTm="3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5FF21-9CFC-2BDA-5095-7A06597A16B1}"/>
              </a:ext>
            </a:extLst>
          </p:cNvPr>
          <p:cNvSpPr>
            <a:spLocks noGrp="1"/>
          </p:cNvSpPr>
          <p:nvPr>
            <p:ph type="title"/>
          </p:nvPr>
        </p:nvSpPr>
        <p:spPr/>
        <p:txBody>
          <a:bodyPr/>
          <a:lstStyle/>
          <a:p>
            <a:r>
              <a:rPr lang="en-US"/>
              <a:t>A* Search Graph Runtime Code Analysis</a:t>
            </a:r>
          </a:p>
        </p:txBody>
      </p:sp>
      <p:pic>
        <p:nvPicPr>
          <p:cNvPr id="4" name="Content Placeholder 3">
            <a:extLst>
              <a:ext uri="{FF2B5EF4-FFF2-40B4-BE49-F238E27FC236}">
                <a16:creationId xmlns:a16="http://schemas.microsoft.com/office/drawing/2014/main" id="{74556C71-3C2E-2441-5EED-6106951AD5F2}"/>
              </a:ext>
            </a:extLst>
          </p:cNvPr>
          <p:cNvPicPr>
            <a:picLocks noGrp="1" noChangeAspect="1"/>
          </p:cNvPicPr>
          <p:nvPr>
            <p:ph idx="1"/>
          </p:nvPr>
        </p:nvPicPr>
        <p:blipFill>
          <a:blip r:embed="rId4"/>
          <a:stretch>
            <a:fillRect/>
          </a:stretch>
        </p:blipFill>
        <p:spPr>
          <a:xfrm>
            <a:off x="0" y="2815294"/>
            <a:ext cx="6096000" cy="4041143"/>
          </a:xfrm>
          <a:prstGeom prst="rect">
            <a:avLst/>
          </a:prstGeom>
        </p:spPr>
      </p:pic>
      <p:sp>
        <p:nvSpPr>
          <p:cNvPr id="5" name="TextBox 4">
            <a:extLst>
              <a:ext uri="{FF2B5EF4-FFF2-40B4-BE49-F238E27FC236}">
                <a16:creationId xmlns:a16="http://schemas.microsoft.com/office/drawing/2014/main" id="{8A3E3B8C-0206-F958-E978-4668C7360191}"/>
              </a:ext>
            </a:extLst>
          </p:cNvPr>
          <p:cNvSpPr txBox="1"/>
          <p:nvPr/>
        </p:nvSpPr>
        <p:spPr>
          <a:xfrm>
            <a:off x="508651" y="2282412"/>
            <a:ext cx="28041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Implementation</a:t>
            </a:r>
          </a:p>
        </p:txBody>
      </p:sp>
      <p:pic>
        <p:nvPicPr>
          <p:cNvPr id="3" name="Picture 2">
            <a:extLst>
              <a:ext uri="{FF2B5EF4-FFF2-40B4-BE49-F238E27FC236}">
                <a16:creationId xmlns:a16="http://schemas.microsoft.com/office/drawing/2014/main" id="{FF661EF2-0B1A-042A-D5B2-4402B906FE69}"/>
              </a:ext>
            </a:extLst>
          </p:cNvPr>
          <p:cNvPicPr>
            <a:picLocks noChangeAspect="1"/>
          </p:cNvPicPr>
          <p:nvPr/>
        </p:nvPicPr>
        <p:blipFill>
          <a:blip r:embed="rId5"/>
          <a:stretch>
            <a:fillRect/>
          </a:stretch>
        </p:blipFill>
        <p:spPr>
          <a:xfrm>
            <a:off x="6197600" y="2815771"/>
            <a:ext cx="6096000" cy="3810000"/>
          </a:xfrm>
          <a:prstGeom prst="rect">
            <a:avLst/>
          </a:prstGeom>
        </p:spPr>
      </p:pic>
      <p:sp>
        <p:nvSpPr>
          <p:cNvPr id="6" name="TextBox 5">
            <a:extLst>
              <a:ext uri="{FF2B5EF4-FFF2-40B4-BE49-F238E27FC236}">
                <a16:creationId xmlns:a16="http://schemas.microsoft.com/office/drawing/2014/main" id="{CC412350-DA2B-7970-857C-88FF8D99CB71}"/>
              </a:ext>
            </a:extLst>
          </p:cNvPr>
          <p:cNvSpPr txBox="1"/>
          <p:nvPr/>
        </p:nvSpPr>
        <p:spPr>
          <a:xfrm>
            <a:off x="6871171" y="2136414"/>
            <a:ext cx="46914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 Implementation</a:t>
            </a:r>
          </a:p>
        </p:txBody>
      </p:sp>
      <p:pic>
        <p:nvPicPr>
          <p:cNvPr id="10" name="Video 9">
            <a:hlinkClick r:id="" action="ppaction://media"/>
            <a:extLst>
              <a:ext uri="{FF2B5EF4-FFF2-40B4-BE49-F238E27FC236}">
                <a16:creationId xmlns:a16="http://schemas.microsoft.com/office/drawing/2014/main" id="{C5835FE7-18F9-3D10-1F54-89FE4E3A8DB4}"/>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6"/>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26741702"/>
      </p:ext>
    </p:extLst>
  </p:cSld>
  <p:clrMapOvr>
    <a:masterClrMapping/>
  </p:clrMapOvr>
  <mc:AlternateContent xmlns:mc="http://schemas.openxmlformats.org/markup-compatibility/2006" xmlns:p14="http://schemas.microsoft.com/office/powerpoint/2010/main">
    <mc:Choice Requires="p14">
      <p:transition spd="slow" p14:dur="2000" advTm="505"/>
    </mc:Choice>
    <mc:Fallback xmlns="">
      <p:transition spd="slow" advTm="5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245D8-B7D7-74E7-9D7A-DA8653AF4B56}"/>
              </a:ext>
            </a:extLst>
          </p:cNvPr>
          <p:cNvSpPr>
            <a:spLocks noGrp="1"/>
          </p:cNvSpPr>
          <p:nvPr>
            <p:ph type="title"/>
          </p:nvPr>
        </p:nvSpPr>
        <p:spPr/>
        <p:txBody>
          <a:bodyPr/>
          <a:lstStyle/>
          <a:p>
            <a:r>
              <a:rPr lang="en-US"/>
              <a:t>Harmony Search Graph Runtime Code Analysis</a:t>
            </a:r>
          </a:p>
        </p:txBody>
      </p:sp>
      <p:pic>
        <p:nvPicPr>
          <p:cNvPr id="4" name="Content Placeholder 3">
            <a:extLst>
              <a:ext uri="{FF2B5EF4-FFF2-40B4-BE49-F238E27FC236}">
                <a16:creationId xmlns:a16="http://schemas.microsoft.com/office/drawing/2014/main" id="{1CD4F634-42A9-317F-7AA6-5231C04883C8}"/>
              </a:ext>
            </a:extLst>
          </p:cNvPr>
          <p:cNvPicPr>
            <a:picLocks noGrp="1" noChangeAspect="1"/>
          </p:cNvPicPr>
          <p:nvPr>
            <p:ph idx="1"/>
          </p:nvPr>
        </p:nvPicPr>
        <p:blipFill>
          <a:blip r:embed="rId4"/>
          <a:stretch>
            <a:fillRect/>
          </a:stretch>
        </p:blipFill>
        <p:spPr>
          <a:xfrm>
            <a:off x="0" y="2815294"/>
            <a:ext cx="6096000" cy="4041143"/>
          </a:xfrm>
          <a:prstGeom prst="rect">
            <a:avLst/>
          </a:prstGeom>
        </p:spPr>
      </p:pic>
      <p:sp>
        <p:nvSpPr>
          <p:cNvPr id="5" name="TextBox 4">
            <a:extLst>
              <a:ext uri="{FF2B5EF4-FFF2-40B4-BE49-F238E27FC236}">
                <a16:creationId xmlns:a16="http://schemas.microsoft.com/office/drawing/2014/main" id="{EBF83EC7-CD7F-04F9-F9BC-427D17199382}"/>
              </a:ext>
            </a:extLst>
          </p:cNvPr>
          <p:cNvSpPr txBox="1"/>
          <p:nvPr/>
        </p:nvSpPr>
        <p:spPr>
          <a:xfrm>
            <a:off x="117381" y="2204158"/>
            <a:ext cx="42257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Python Implementation</a:t>
            </a:r>
          </a:p>
        </p:txBody>
      </p:sp>
      <p:pic>
        <p:nvPicPr>
          <p:cNvPr id="6" name="Picture 5">
            <a:extLst>
              <a:ext uri="{FF2B5EF4-FFF2-40B4-BE49-F238E27FC236}">
                <a16:creationId xmlns:a16="http://schemas.microsoft.com/office/drawing/2014/main" id="{5D5318E1-D786-6DD4-BB29-F274225B4290}"/>
              </a:ext>
            </a:extLst>
          </p:cNvPr>
          <p:cNvPicPr>
            <a:picLocks noChangeAspect="1"/>
          </p:cNvPicPr>
          <p:nvPr/>
        </p:nvPicPr>
        <p:blipFill>
          <a:blip r:embed="rId5"/>
          <a:stretch>
            <a:fillRect/>
          </a:stretch>
        </p:blipFill>
        <p:spPr>
          <a:xfrm>
            <a:off x="6197599" y="2815771"/>
            <a:ext cx="5994401" cy="3708401"/>
          </a:xfrm>
          <a:prstGeom prst="rect">
            <a:avLst/>
          </a:prstGeom>
        </p:spPr>
      </p:pic>
      <p:sp>
        <p:nvSpPr>
          <p:cNvPr id="7" name="TextBox 6">
            <a:extLst>
              <a:ext uri="{FF2B5EF4-FFF2-40B4-BE49-F238E27FC236}">
                <a16:creationId xmlns:a16="http://schemas.microsoft.com/office/drawing/2014/main" id="{BCE3D0D1-267D-8F8B-75FC-5EC78CE17032}"/>
              </a:ext>
            </a:extLst>
          </p:cNvPr>
          <p:cNvSpPr txBox="1"/>
          <p:nvPr/>
        </p:nvSpPr>
        <p:spPr>
          <a:xfrm>
            <a:off x="8098166" y="209310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 Implementation</a:t>
            </a:r>
          </a:p>
        </p:txBody>
      </p:sp>
      <p:pic>
        <p:nvPicPr>
          <p:cNvPr id="10" name="Video 9">
            <a:hlinkClick r:id="" action="ppaction://media"/>
            <a:extLst>
              <a:ext uri="{FF2B5EF4-FFF2-40B4-BE49-F238E27FC236}">
                <a16:creationId xmlns:a16="http://schemas.microsoft.com/office/drawing/2014/main" id="{8225AAFE-DA82-55A9-4C19-2AB4924A82B9}"/>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6"/>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72500317"/>
      </p:ext>
    </p:extLst>
  </p:cSld>
  <p:clrMapOvr>
    <a:masterClrMapping/>
  </p:clrMapOvr>
  <mc:AlternateContent xmlns:mc="http://schemas.openxmlformats.org/markup-compatibility/2006" xmlns:p14="http://schemas.microsoft.com/office/powerpoint/2010/main">
    <mc:Choice Requires="p14">
      <p:transition spd="slow" p14:dur="2000" advTm="125"/>
    </mc:Choice>
    <mc:Fallback xmlns="">
      <p:transition spd="slow" advTm="1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FE8E8-9255-9A7A-2BB9-088CC0E4ECB2}"/>
              </a:ext>
            </a:extLst>
          </p:cNvPr>
          <p:cNvSpPr>
            <a:spLocks noGrp="1"/>
          </p:cNvSpPr>
          <p:nvPr>
            <p:ph type="title"/>
          </p:nvPr>
        </p:nvSpPr>
        <p:spPr/>
        <p:txBody>
          <a:bodyPr/>
          <a:lstStyle/>
          <a:p>
            <a:r>
              <a:rPr lang="en-US"/>
              <a:t>Algorithm Comparisons with Real-World Networks</a:t>
            </a:r>
          </a:p>
        </p:txBody>
      </p:sp>
      <p:sp>
        <p:nvSpPr>
          <p:cNvPr id="3" name="Content Placeholder 2">
            <a:extLst>
              <a:ext uri="{FF2B5EF4-FFF2-40B4-BE49-F238E27FC236}">
                <a16:creationId xmlns:a16="http://schemas.microsoft.com/office/drawing/2014/main" id="{654F0883-D513-DD0B-CBA2-96AB8C9A1C7C}"/>
              </a:ext>
            </a:extLst>
          </p:cNvPr>
          <p:cNvSpPr>
            <a:spLocks noGrp="1"/>
          </p:cNvSpPr>
          <p:nvPr>
            <p:ph idx="1"/>
          </p:nvPr>
        </p:nvSpPr>
        <p:spPr/>
        <p:txBody>
          <a:bodyPr vert="horz" lIns="91440" tIns="45720" rIns="91440" bIns="45720" rtlCol="0" anchor="t">
            <a:normAutofit/>
          </a:bodyPr>
          <a:lstStyle/>
          <a:p>
            <a:pPr marL="0" indent="0">
              <a:buNone/>
            </a:pPr>
            <a:r>
              <a:rPr lang="en-US"/>
              <a:t>We will be using three real world networks from the Stanford Large Network Dataset Collection to compare our algorithms.</a:t>
            </a:r>
          </a:p>
          <a:p>
            <a:pPr marL="0" indent="0">
              <a:buNone/>
            </a:pPr>
            <a:endParaRPr lang="en-US"/>
          </a:p>
        </p:txBody>
      </p:sp>
      <p:graphicFrame>
        <p:nvGraphicFramePr>
          <p:cNvPr id="4" name="Table 3">
            <a:extLst>
              <a:ext uri="{FF2B5EF4-FFF2-40B4-BE49-F238E27FC236}">
                <a16:creationId xmlns:a16="http://schemas.microsoft.com/office/drawing/2014/main" id="{EC1A126C-682F-6D25-667A-EA2DBEFE6D5C}"/>
              </a:ext>
            </a:extLst>
          </p:cNvPr>
          <p:cNvGraphicFramePr>
            <a:graphicFrameLocks noGrp="1"/>
          </p:cNvGraphicFramePr>
          <p:nvPr>
            <p:extLst>
              <p:ext uri="{D42A27DB-BD31-4B8C-83A1-F6EECF244321}">
                <p14:modId xmlns:p14="http://schemas.microsoft.com/office/powerpoint/2010/main" val="1027893714"/>
              </p:ext>
            </p:extLst>
          </p:nvPr>
        </p:nvGraphicFramePr>
        <p:xfrm>
          <a:off x="836023" y="2681805"/>
          <a:ext cx="10018465" cy="4127115"/>
        </p:xfrm>
        <a:graphic>
          <a:graphicData uri="http://schemas.openxmlformats.org/drawingml/2006/table">
            <a:tbl>
              <a:tblPr firstRow="1" bandRow="1">
                <a:tableStyleId>{5C22544A-7EE6-4342-B048-85BDC9FD1C3A}</a:tableStyleId>
              </a:tblPr>
              <a:tblGrid>
                <a:gridCol w="2003693">
                  <a:extLst>
                    <a:ext uri="{9D8B030D-6E8A-4147-A177-3AD203B41FA5}">
                      <a16:colId xmlns:a16="http://schemas.microsoft.com/office/drawing/2014/main" val="122984738"/>
                    </a:ext>
                  </a:extLst>
                </a:gridCol>
                <a:gridCol w="2003693">
                  <a:extLst>
                    <a:ext uri="{9D8B030D-6E8A-4147-A177-3AD203B41FA5}">
                      <a16:colId xmlns:a16="http://schemas.microsoft.com/office/drawing/2014/main" val="2900529858"/>
                    </a:ext>
                  </a:extLst>
                </a:gridCol>
                <a:gridCol w="2003693">
                  <a:extLst>
                    <a:ext uri="{9D8B030D-6E8A-4147-A177-3AD203B41FA5}">
                      <a16:colId xmlns:a16="http://schemas.microsoft.com/office/drawing/2014/main" val="580695719"/>
                    </a:ext>
                  </a:extLst>
                </a:gridCol>
                <a:gridCol w="2003693">
                  <a:extLst>
                    <a:ext uri="{9D8B030D-6E8A-4147-A177-3AD203B41FA5}">
                      <a16:colId xmlns:a16="http://schemas.microsoft.com/office/drawing/2014/main" val="1230097459"/>
                    </a:ext>
                  </a:extLst>
                </a:gridCol>
                <a:gridCol w="2003693">
                  <a:extLst>
                    <a:ext uri="{9D8B030D-6E8A-4147-A177-3AD203B41FA5}">
                      <a16:colId xmlns:a16="http://schemas.microsoft.com/office/drawing/2014/main" val="1229569219"/>
                    </a:ext>
                  </a:extLst>
                </a:gridCol>
              </a:tblGrid>
              <a:tr h="979465">
                <a:tc>
                  <a:txBody>
                    <a:bodyPr/>
                    <a:lstStyle/>
                    <a:p>
                      <a:r>
                        <a:rPr lang="en-US"/>
                        <a:t>Network</a:t>
                      </a:r>
                    </a:p>
                  </a:txBody>
                  <a:tcPr/>
                </a:tc>
                <a:tc>
                  <a:txBody>
                    <a:bodyPr/>
                    <a:lstStyle/>
                    <a:p>
                      <a:r>
                        <a:rPr lang="en-US"/>
                        <a:t>Domain</a:t>
                      </a:r>
                    </a:p>
                  </a:txBody>
                  <a:tcPr/>
                </a:tc>
                <a:tc>
                  <a:txBody>
                    <a:bodyPr/>
                    <a:lstStyle/>
                    <a:p>
                      <a:r>
                        <a:rPr lang="en-US"/>
                        <a:t>Nodes Used</a:t>
                      </a:r>
                    </a:p>
                  </a:txBody>
                  <a:tcPr/>
                </a:tc>
                <a:tc>
                  <a:txBody>
                    <a:bodyPr/>
                    <a:lstStyle/>
                    <a:p>
                      <a:r>
                        <a:rPr lang="en-US"/>
                        <a:t>Edges Used</a:t>
                      </a:r>
                    </a:p>
                  </a:txBody>
                  <a:tcPr/>
                </a:tc>
                <a:tc>
                  <a:txBody>
                    <a:bodyPr/>
                    <a:lstStyle/>
                    <a:p>
                      <a:r>
                        <a:rPr lang="en-US"/>
                        <a:t>Average Degree</a:t>
                      </a:r>
                    </a:p>
                  </a:txBody>
                  <a:tcPr/>
                </a:tc>
                <a:extLst>
                  <a:ext uri="{0D108BD9-81ED-4DB2-BD59-A6C34878D82A}">
                    <a16:rowId xmlns:a16="http://schemas.microsoft.com/office/drawing/2014/main" val="1616244451"/>
                  </a:ext>
                </a:extLst>
              </a:tr>
              <a:tr h="979465">
                <a:tc>
                  <a:txBody>
                    <a:bodyPr/>
                    <a:lstStyle/>
                    <a:p>
                      <a:r>
                        <a:rPr lang="en-US"/>
                        <a:t>ego-Facebook</a:t>
                      </a:r>
                    </a:p>
                  </a:txBody>
                  <a:tcPr/>
                </a:tc>
                <a:tc>
                  <a:txBody>
                    <a:bodyPr/>
                    <a:lstStyle/>
                    <a:p>
                      <a:r>
                        <a:rPr lang="en-US"/>
                        <a:t>Social</a:t>
                      </a:r>
                    </a:p>
                  </a:txBody>
                  <a:tcPr/>
                </a:tc>
                <a:tc>
                  <a:txBody>
                    <a:bodyPr/>
                    <a:lstStyle/>
                    <a:p>
                      <a:r>
                        <a:rPr lang="en-US"/>
                        <a:t>4,039</a:t>
                      </a:r>
                    </a:p>
                  </a:txBody>
                  <a:tcPr/>
                </a:tc>
                <a:tc>
                  <a:txBody>
                    <a:bodyPr/>
                    <a:lstStyle/>
                    <a:p>
                      <a:r>
                        <a:rPr lang="en-US"/>
                        <a:t>88,234</a:t>
                      </a:r>
                    </a:p>
                  </a:txBody>
                  <a:tcPr/>
                </a:tc>
                <a:tc>
                  <a:txBody>
                    <a:bodyPr/>
                    <a:lstStyle/>
                    <a:p>
                      <a:r>
                        <a:rPr lang="en-US"/>
                        <a:t>43.69</a:t>
                      </a:r>
                    </a:p>
                  </a:txBody>
                  <a:tcPr/>
                </a:tc>
                <a:extLst>
                  <a:ext uri="{0D108BD9-81ED-4DB2-BD59-A6C34878D82A}">
                    <a16:rowId xmlns:a16="http://schemas.microsoft.com/office/drawing/2014/main" val="1097651173"/>
                  </a:ext>
                </a:extLst>
              </a:tr>
              <a:tr h="979465">
                <a:tc>
                  <a:txBody>
                    <a:bodyPr/>
                    <a:lstStyle/>
                    <a:p>
                      <a:pPr lvl="0">
                        <a:buNone/>
                      </a:pPr>
                      <a:r>
                        <a:rPr lang="en-US" sz="1800" b="0" i="0" u="none" strike="noStrike" noProof="0">
                          <a:latin typeface="Aptos"/>
                        </a:rPr>
                        <a:t>Oregon-1 autonomous systems (2001-03-31)</a:t>
                      </a:r>
                      <a:endParaRPr lang="en-US"/>
                    </a:p>
                  </a:txBody>
                  <a:tcPr/>
                </a:tc>
                <a:tc>
                  <a:txBody>
                    <a:bodyPr/>
                    <a:lstStyle/>
                    <a:p>
                      <a:r>
                        <a:rPr lang="en-US"/>
                        <a:t>Internet Routing</a:t>
                      </a:r>
                    </a:p>
                  </a:txBody>
                  <a:tcPr/>
                </a:tc>
                <a:tc>
                  <a:txBody>
                    <a:bodyPr/>
                    <a:lstStyle/>
                    <a:p>
                      <a:r>
                        <a:rPr lang="en-US"/>
                        <a:t>8,000</a:t>
                      </a:r>
                    </a:p>
                  </a:txBody>
                  <a:tcPr/>
                </a:tc>
                <a:tc>
                  <a:txBody>
                    <a:bodyPr/>
                    <a:lstStyle/>
                    <a:p>
                      <a:r>
                        <a:rPr lang="en-US"/>
                        <a:t>18,074</a:t>
                      </a:r>
                    </a:p>
                  </a:txBody>
                  <a:tcPr/>
                </a:tc>
                <a:tc>
                  <a:txBody>
                    <a:bodyPr/>
                    <a:lstStyle/>
                    <a:p>
                      <a:r>
                        <a:rPr lang="en-US"/>
                        <a:t>4.52</a:t>
                      </a:r>
                    </a:p>
                  </a:txBody>
                  <a:tcPr/>
                </a:tc>
                <a:extLst>
                  <a:ext uri="{0D108BD9-81ED-4DB2-BD59-A6C34878D82A}">
                    <a16:rowId xmlns:a16="http://schemas.microsoft.com/office/drawing/2014/main" val="3142258892"/>
                  </a:ext>
                </a:extLst>
              </a:tr>
              <a:tr h="979465">
                <a:tc>
                  <a:txBody>
                    <a:bodyPr/>
                    <a:lstStyle/>
                    <a:p>
                      <a:r>
                        <a:rPr lang="en-US" err="1"/>
                        <a:t>roadNet</a:t>
                      </a:r>
                      <a:r>
                        <a:rPr lang="en-US"/>
                        <a:t>-PA</a:t>
                      </a:r>
                    </a:p>
                  </a:txBody>
                  <a:tcPr/>
                </a:tc>
                <a:tc>
                  <a:txBody>
                    <a:bodyPr/>
                    <a:lstStyle/>
                    <a:p>
                      <a:r>
                        <a:rPr lang="en-US"/>
                        <a:t>Road Network</a:t>
                      </a:r>
                    </a:p>
                  </a:txBody>
                  <a:tcPr/>
                </a:tc>
                <a:tc>
                  <a:txBody>
                    <a:bodyPr/>
                    <a:lstStyle/>
                    <a:p>
                      <a:r>
                        <a:rPr lang="en-US"/>
                        <a:t>8,000</a:t>
                      </a:r>
                    </a:p>
                  </a:txBody>
                  <a:tcPr/>
                </a:tc>
                <a:tc>
                  <a:txBody>
                    <a:bodyPr/>
                    <a:lstStyle/>
                    <a:p>
                      <a:r>
                        <a:rPr lang="en-US"/>
                        <a:t>11,916</a:t>
                      </a:r>
                    </a:p>
                  </a:txBody>
                  <a:tcPr/>
                </a:tc>
                <a:tc>
                  <a:txBody>
                    <a:bodyPr/>
                    <a:lstStyle/>
                    <a:p>
                      <a:r>
                        <a:rPr lang="en-US"/>
                        <a:t>2.98</a:t>
                      </a:r>
                    </a:p>
                  </a:txBody>
                  <a:tcPr/>
                </a:tc>
                <a:extLst>
                  <a:ext uri="{0D108BD9-81ED-4DB2-BD59-A6C34878D82A}">
                    <a16:rowId xmlns:a16="http://schemas.microsoft.com/office/drawing/2014/main" val="2057531068"/>
                  </a:ext>
                </a:extLst>
              </a:tr>
            </a:tbl>
          </a:graphicData>
        </a:graphic>
      </p:graphicFrame>
      <p:pic>
        <p:nvPicPr>
          <p:cNvPr id="8" name="Video 7">
            <a:hlinkClick r:id="" action="ppaction://media"/>
            <a:extLst>
              <a:ext uri="{FF2B5EF4-FFF2-40B4-BE49-F238E27FC236}">
                <a16:creationId xmlns:a16="http://schemas.microsoft.com/office/drawing/2014/main" id="{16B9B9FC-CFD2-4AAC-AA7E-A2F60FAACDA4}"/>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4"/>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850974690"/>
      </p:ext>
    </p:extLst>
  </p:cSld>
  <p:clrMapOvr>
    <a:masterClrMapping/>
  </p:clrMapOvr>
  <mc:AlternateContent xmlns:mc="http://schemas.openxmlformats.org/markup-compatibility/2006" xmlns:p14="http://schemas.microsoft.com/office/powerpoint/2010/main">
    <mc:Choice Requires="p14">
      <p:transition spd="slow" p14:dur="2000" advTm="108"/>
    </mc:Choice>
    <mc:Fallback xmlns="">
      <p:transition spd="slow" advTm="1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55C7D-EA9B-263E-577E-24BD3882E01E}"/>
              </a:ext>
            </a:extLst>
          </p:cNvPr>
          <p:cNvSpPr>
            <a:spLocks noGrp="1"/>
          </p:cNvSpPr>
          <p:nvPr>
            <p:ph type="title"/>
          </p:nvPr>
        </p:nvSpPr>
        <p:spPr/>
        <p:txBody>
          <a:bodyPr/>
          <a:lstStyle/>
          <a:p>
            <a:r>
              <a:rPr lang="en-US"/>
              <a:t>Algorithm Comparison Notes</a:t>
            </a:r>
          </a:p>
        </p:txBody>
      </p:sp>
      <p:sp>
        <p:nvSpPr>
          <p:cNvPr id="3" name="Content Placeholder 2">
            <a:extLst>
              <a:ext uri="{FF2B5EF4-FFF2-40B4-BE49-F238E27FC236}">
                <a16:creationId xmlns:a16="http://schemas.microsoft.com/office/drawing/2014/main" id="{4E67C93C-7EAD-3921-76F7-F475A95C25DA}"/>
              </a:ext>
            </a:extLst>
          </p:cNvPr>
          <p:cNvSpPr>
            <a:spLocks noGrp="1"/>
          </p:cNvSpPr>
          <p:nvPr>
            <p:ph idx="1"/>
          </p:nvPr>
        </p:nvSpPr>
        <p:spPr/>
        <p:txBody>
          <a:bodyPr vert="horz" lIns="91440" tIns="45720" rIns="91440" bIns="45720" rtlCol="0" anchor="t">
            <a:normAutofit fontScale="85000" lnSpcReduction="10000"/>
          </a:bodyPr>
          <a:lstStyle/>
          <a:p>
            <a:pPr marL="514350" indent="-514350">
              <a:buAutoNum type="arabicPeriod"/>
            </a:pPr>
            <a:r>
              <a:rPr lang="en-US">
                <a:ea typeface="+mn-lt"/>
                <a:cs typeface="+mn-lt"/>
              </a:rPr>
              <a:t>The edge weights are synthetic. SNAP ships all three graphs unweighted. Since routing needs weights, each edge weight is derived deterministically from a hash of its two endpoint IDs plus a fixed seed (2400), in the range 1–100. The same edge always gets the same weight, so the runs are reproducible.</a:t>
            </a:r>
          </a:p>
          <a:p>
            <a:pPr marL="514350" indent="-514350">
              <a:buAutoNum type="arabicPeriod"/>
            </a:pPr>
            <a:r>
              <a:rPr lang="en-US">
                <a:ea typeface="+mn-lt"/>
                <a:cs typeface="+mn-lt"/>
              </a:rPr>
              <a:t>Two of the three are subsamples. ego-Facebook is the complete graph (all 4,039 nodes). Oregon-1 (10,670 nodes) and </a:t>
            </a:r>
            <a:r>
              <a:rPr lang="en-US" err="1">
                <a:ea typeface="+mn-lt"/>
                <a:cs typeface="+mn-lt"/>
              </a:rPr>
              <a:t>roadNet</a:t>
            </a:r>
            <a:r>
              <a:rPr lang="en-US">
                <a:ea typeface="+mn-lt"/>
                <a:cs typeface="+mn-lt"/>
              </a:rPr>
              <a:t>-PA (1,088,092 nodes) were reduced to 8,000 nodes each with a breadth-first sample, which stays connected by construction. That was necessary because Bellman-Ford is Θ(V·E) and the full road network isn't runnable in pure Python.</a:t>
            </a:r>
            <a:br>
              <a:rPr lang="en-US">
                <a:ea typeface="+mn-lt"/>
                <a:cs typeface="+mn-lt"/>
              </a:rPr>
            </a:br>
            <a:r>
              <a:rPr lang="en-US">
                <a:ea typeface="+mn-lt"/>
                <a:cs typeface="+mn-lt"/>
              </a:rPr>
              <a:t>  Each graph was tested on one </a:t>
            </a:r>
            <a:r>
              <a:rPr lang="en-US" err="1">
                <a:ea typeface="+mn-lt"/>
                <a:cs typeface="+mn-lt"/>
              </a:rPr>
              <a:t>source→target</a:t>
            </a:r>
            <a:r>
              <a:rPr lang="en-US">
                <a:ea typeface="+mn-lt"/>
                <a:cs typeface="+mn-lt"/>
              </a:rPr>
              <a:t> query: the BFS root to the furthest node reached, so the paths aren't trivially short. Per graph: 3 timed runs of each exact algorithm, 10 Harmony Search trials (it's stochastic), plus 1 memory-instrumented run each — 69 rows total.</a:t>
            </a:r>
            <a:endParaRPr lang="en-US"/>
          </a:p>
          <a:p>
            <a:pPr marL="514350" indent="-514350">
              <a:buAutoNum type="arabicPeriod"/>
            </a:pPr>
            <a:endParaRPr lang="en-US"/>
          </a:p>
        </p:txBody>
      </p:sp>
      <p:pic>
        <p:nvPicPr>
          <p:cNvPr id="7" name="Picture 6">
            <a:hlinkClick r:id="" action="ppaction://media"/>
            <a:extLst>
              <a:ext uri="{FF2B5EF4-FFF2-40B4-BE49-F238E27FC236}">
                <a16:creationId xmlns:a16="http://schemas.microsoft.com/office/drawing/2014/main" id="{B5ACC4FE-D710-9987-0B2F-6908430CA91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906000" y="5143500"/>
            <a:ext cx="2285999" cy="1714500"/>
          </a:xfrm>
          <a:prstGeom prst="rect">
            <a:avLst/>
          </a:prstGeom>
        </p:spPr>
      </p:pic>
    </p:spTree>
    <p:extLst>
      <p:ext uri="{BB962C8B-B14F-4D97-AF65-F5344CB8AC3E}">
        <p14:creationId xmlns:p14="http://schemas.microsoft.com/office/powerpoint/2010/main" val="3924395541"/>
      </p:ext>
    </p:extLst>
  </p:cSld>
  <p:clrMapOvr>
    <a:masterClrMapping/>
  </p:clrMapOvr>
  <mc:AlternateContent xmlns:mc="http://schemas.openxmlformats.org/markup-compatibility/2006" xmlns:p14="http://schemas.microsoft.com/office/powerpoint/2010/main">
    <mc:Choice Requires="p14">
      <p:transition spd="slow" p14:dur="2000" advTm="54"/>
    </mc:Choice>
    <mc:Fallback xmlns="">
      <p:transition spd="slow" advTm="5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22C64-5336-C9C6-4D65-EFF1CC8542EC}"/>
              </a:ext>
            </a:extLst>
          </p:cNvPr>
          <p:cNvSpPr>
            <a:spLocks noGrp="1"/>
          </p:cNvSpPr>
          <p:nvPr>
            <p:ph type="title"/>
          </p:nvPr>
        </p:nvSpPr>
        <p:spPr/>
        <p:txBody>
          <a:bodyPr/>
          <a:lstStyle/>
          <a:p>
            <a:r>
              <a:rPr lang="en-US"/>
              <a:t>Algorithm Comparisons- Basic Operations</a:t>
            </a:r>
          </a:p>
        </p:txBody>
      </p:sp>
      <p:pic>
        <p:nvPicPr>
          <p:cNvPr id="4" name="Content Placeholder 3">
            <a:extLst>
              <a:ext uri="{FF2B5EF4-FFF2-40B4-BE49-F238E27FC236}">
                <a16:creationId xmlns:a16="http://schemas.microsoft.com/office/drawing/2014/main" id="{E06858D2-6067-C2DD-7F44-85DB599CCEA5}"/>
              </a:ext>
            </a:extLst>
          </p:cNvPr>
          <p:cNvPicPr>
            <a:picLocks noGrp="1" noChangeAspect="1"/>
          </p:cNvPicPr>
          <p:nvPr>
            <p:ph idx="1"/>
          </p:nvPr>
        </p:nvPicPr>
        <p:blipFill>
          <a:blip>
            <a:extLst>
              <a:ext uri="{96DAC541-7B7A-43D3-8B79-37D633B846F1}">
                <asvg:svgBlip xmlns:asvg="http://schemas.microsoft.com/office/drawing/2016/SVG/main" r:embed="rId4"/>
              </a:ext>
            </a:extLst>
          </a:blip>
          <a:stretch>
            <a:fillRect/>
          </a:stretch>
        </p:blipFill>
        <p:spPr>
          <a:xfrm>
            <a:off x="2309586" y="2461419"/>
            <a:ext cx="7239000" cy="3181350"/>
          </a:xfrm>
          <a:prstGeom prst="rect">
            <a:avLst/>
          </a:prstGeom>
        </p:spPr>
      </p:pic>
      <p:sp>
        <p:nvSpPr>
          <p:cNvPr id="5" name="TextBox 4">
            <a:extLst>
              <a:ext uri="{FF2B5EF4-FFF2-40B4-BE49-F238E27FC236}">
                <a16:creationId xmlns:a16="http://schemas.microsoft.com/office/drawing/2014/main" id="{1BFB46DC-8B88-0E24-E1AB-0EF3496FEF26}"/>
              </a:ext>
            </a:extLst>
          </p:cNvPr>
          <p:cNvSpPr txBox="1"/>
          <p:nvPr/>
        </p:nvSpPr>
        <p:spPr>
          <a:xfrm>
            <a:off x="1679417" y="1696056"/>
            <a:ext cx="849549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Harmony search having  fewer basic operations is because we are only trying to find a candidate path, not evaluating every single edge.</a:t>
            </a:r>
          </a:p>
        </p:txBody>
      </p:sp>
      <p:pic>
        <p:nvPicPr>
          <p:cNvPr id="8" name="Video 7">
            <a:hlinkClick r:id="" action="ppaction://media"/>
            <a:extLst>
              <a:ext uri="{FF2B5EF4-FFF2-40B4-BE49-F238E27FC236}">
                <a16:creationId xmlns:a16="http://schemas.microsoft.com/office/drawing/2014/main" id="{9E6364A9-D01F-A13B-98D5-AE0FC229FA51}"/>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5"/>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42581688"/>
      </p:ext>
    </p:extLst>
  </p:cSld>
  <p:clrMapOvr>
    <a:masterClrMapping/>
  </p:clrMapOvr>
  <mc:AlternateContent xmlns:mc="http://schemas.openxmlformats.org/markup-compatibility/2006" xmlns:p14="http://schemas.microsoft.com/office/powerpoint/2010/main">
    <mc:Choice Requires="p14">
      <p:transition spd="slow" p14:dur="2000" advTm="256"/>
    </mc:Choice>
    <mc:Fallback xmlns="">
      <p:transition spd="slow" advTm="2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F9862-AA1C-65FC-535F-3D0EF73201C5}"/>
              </a:ext>
            </a:extLst>
          </p:cNvPr>
          <p:cNvSpPr>
            <a:spLocks noGrp="1"/>
          </p:cNvSpPr>
          <p:nvPr>
            <p:ph type="title"/>
          </p:nvPr>
        </p:nvSpPr>
        <p:spPr/>
        <p:txBody>
          <a:bodyPr/>
          <a:lstStyle/>
          <a:p>
            <a:r>
              <a:rPr lang="en-US"/>
              <a:t>Algorithm Comparisons- Path Cost</a:t>
            </a:r>
          </a:p>
        </p:txBody>
      </p:sp>
      <p:pic>
        <p:nvPicPr>
          <p:cNvPr id="7" name="Content Placeholder 6">
            <a:extLst>
              <a:ext uri="{FF2B5EF4-FFF2-40B4-BE49-F238E27FC236}">
                <a16:creationId xmlns:a16="http://schemas.microsoft.com/office/drawing/2014/main" id="{1F99A6FE-F75D-CD83-C46C-E09AAFB20FC6}"/>
              </a:ext>
            </a:extLst>
          </p:cNvPr>
          <p:cNvPicPr>
            <a:picLocks noGrp="1" noChangeAspect="1"/>
          </p:cNvPicPr>
          <p:nvPr>
            <p:ph idx="1"/>
          </p:nvPr>
        </p:nvPicPr>
        <p:blipFill>
          <a:blip>
            <a:extLst>
              <a:ext uri="{96DAC541-7B7A-43D3-8B79-37D633B846F1}">
                <asvg:svgBlip xmlns:asvg="http://schemas.microsoft.com/office/drawing/2016/SVG/main" r:embed="rId4"/>
              </a:ext>
            </a:extLst>
          </a:blip>
          <a:stretch>
            <a:fillRect/>
          </a:stretch>
        </p:blipFill>
        <p:spPr>
          <a:xfrm>
            <a:off x="2476500" y="2758962"/>
            <a:ext cx="7239000" cy="4095750"/>
          </a:xfrm>
          <a:prstGeom prst="rect">
            <a:avLst/>
          </a:prstGeom>
        </p:spPr>
      </p:pic>
      <p:sp>
        <p:nvSpPr>
          <p:cNvPr id="8" name="TextBox 7">
            <a:extLst>
              <a:ext uri="{FF2B5EF4-FFF2-40B4-BE49-F238E27FC236}">
                <a16:creationId xmlns:a16="http://schemas.microsoft.com/office/drawing/2014/main" id="{51028DD6-2C30-3751-9E0D-4AE01A6EFD04}"/>
              </a:ext>
            </a:extLst>
          </p:cNvPr>
          <p:cNvSpPr txBox="1"/>
          <p:nvPr/>
        </p:nvSpPr>
        <p:spPr>
          <a:xfrm>
            <a:off x="1278150" y="1660794"/>
            <a:ext cx="905008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Harmony search having more paths is from </a:t>
            </a:r>
            <a:r>
              <a:rPr lang="en-US" err="1"/>
              <a:t>i</a:t>
            </a:r>
            <a:r>
              <a:rPr lang="en-US"/>
              <a:t>t having to evaluate many alternative routes for a complete candidate path, compared to the other algorithms examining individual edges.</a:t>
            </a:r>
          </a:p>
        </p:txBody>
      </p:sp>
      <p:pic>
        <p:nvPicPr>
          <p:cNvPr id="6" name="Picture 5">
            <a:hlinkClick r:id="" action="ppaction://media"/>
            <a:extLst>
              <a:ext uri="{FF2B5EF4-FFF2-40B4-BE49-F238E27FC236}">
                <a16:creationId xmlns:a16="http://schemas.microsoft.com/office/drawing/2014/main" id="{A8F0BF12-C617-49D6-6414-65719A2781D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906000" y="5143500"/>
            <a:ext cx="2285999" cy="1714500"/>
          </a:xfrm>
          <a:prstGeom prst="rect">
            <a:avLst/>
          </a:prstGeom>
        </p:spPr>
      </p:pic>
    </p:spTree>
    <p:extLst>
      <p:ext uri="{BB962C8B-B14F-4D97-AF65-F5344CB8AC3E}">
        <p14:creationId xmlns:p14="http://schemas.microsoft.com/office/powerpoint/2010/main" val="7966743"/>
      </p:ext>
    </p:extLst>
  </p:cSld>
  <p:clrMapOvr>
    <a:masterClrMapping/>
  </p:clrMapOvr>
  <mc:AlternateContent xmlns:mc="http://schemas.openxmlformats.org/markup-compatibility/2006" xmlns:p14="http://schemas.microsoft.com/office/powerpoint/2010/main">
    <mc:Choice Requires="p14">
      <p:transition spd="slow" p14:dur="2000" advTm="26"/>
    </mc:Choice>
    <mc:Fallback xmlns="">
      <p:transition spd="slow" advTm="2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E43E-345B-A1E2-ED97-8346F3744D75}"/>
              </a:ext>
            </a:extLst>
          </p:cNvPr>
          <p:cNvSpPr>
            <a:spLocks noGrp="1"/>
          </p:cNvSpPr>
          <p:nvPr>
            <p:ph type="title"/>
          </p:nvPr>
        </p:nvSpPr>
        <p:spPr/>
        <p:txBody>
          <a:bodyPr/>
          <a:lstStyle/>
          <a:p>
            <a:r>
              <a:rPr lang="en-US"/>
              <a:t>Algorithm Comparisons- Peak Memory Usage</a:t>
            </a:r>
          </a:p>
        </p:txBody>
      </p:sp>
      <p:pic>
        <p:nvPicPr>
          <p:cNvPr id="4" name="Content Placeholder 3">
            <a:extLst>
              <a:ext uri="{FF2B5EF4-FFF2-40B4-BE49-F238E27FC236}">
                <a16:creationId xmlns:a16="http://schemas.microsoft.com/office/drawing/2014/main" id="{AD00DD65-3743-2E50-2624-132D65E9E82F}"/>
              </a:ext>
            </a:extLst>
          </p:cNvPr>
          <p:cNvPicPr>
            <a:picLocks noGrp="1" noChangeAspect="1"/>
          </p:cNvPicPr>
          <p:nvPr>
            <p:ph idx="1"/>
          </p:nvPr>
        </p:nvPicPr>
        <p:blipFill>
          <a:blip>
            <a:extLst>
              <a:ext uri="{96DAC541-7B7A-43D3-8B79-37D633B846F1}">
                <asvg:svgBlip xmlns:asvg="http://schemas.microsoft.com/office/drawing/2016/SVG/main" r:embed="rId4"/>
              </a:ext>
            </a:extLst>
          </a:blip>
          <a:stretch>
            <a:fillRect/>
          </a:stretch>
        </p:blipFill>
        <p:spPr>
          <a:xfrm>
            <a:off x="2266043" y="3430248"/>
            <a:ext cx="7239000" cy="3028950"/>
          </a:xfrm>
          <a:prstGeom prst="rect">
            <a:avLst/>
          </a:prstGeom>
        </p:spPr>
      </p:pic>
      <p:sp>
        <p:nvSpPr>
          <p:cNvPr id="5" name="TextBox 4">
            <a:extLst>
              <a:ext uri="{FF2B5EF4-FFF2-40B4-BE49-F238E27FC236}">
                <a16:creationId xmlns:a16="http://schemas.microsoft.com/office/drawing/2014/main" id="{BC61016B-3722-F69A-85DA-519E3E061DFC}"/>
              </a:ext>
            </a:extLst>
          </p:cNvPr>
          <p:cNvSpPr txBox="1"/>
          <p:nvPr/>
        </p:nvSpPr>
        <p:spPr>
          <a:xfrm>
            <a:off x="1095558" y="1720119"/>
            <a:ext cx="89591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Harmony search has the least memory usage hear since it required fewer memory resources during execution time between our algorithms. Even though each computational operation is expensive, it did not need to store much information simultaneously.</a:t>
            </a:r>
          </a:p>
        </p:txBody>
      </p:sp>
      <p:pic>
        <p:nvPicPr>
          <p:cNvPr id="8" name="Picture 7">
            <a:hlinkClick r:id="" action="ppaction://media"/>
            <a:extLst>
              <a:ext uri="{FF2B5EF4-FFF2-40B4-BE49-F238E27FC236}">
                <a16:creationId xmlns:a16="http://schemas.microsoft.com/office/drawing/2014/main" id="{7EE3A03D-03A1-D6DB-F8A8-49F745ED817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906000" y="5143500"/>
            <a:ext cx="2285999" cy="1714500"/>
          </a:xfrm>
          <a:prstGeom prst="rect">
            <a:avLst/>
          </a:prstGeom>
        </p:spPr>
      </p:pic>
    </p:spTree>
    <p:extLst>
      <p:ext uri="{BB962C8B-B14F-4D97-AF65-F5344CB8AC3E}">
        <p14:creationId xmlns:p14="http://schemas.microsoft.com/office/powerpoint/2010/main" val="2331116425"/>
      </p:ext>
    </p:extLst>
  </p:cSld>
  <p:clrMapOvr>
    <a:masterClrMapping/>
  </p:clrMapOvr>
  <mc:AlternateContent xmlns:mc="http://schemas.openxmlformats.org/markup-compatibility/2006" xmlns:p14="http://schemas.microsoft.com/office/powerpoint/2010/main">
    <mc:Choice Requires="p14">
      <p:transition spd="slow" p14:dur="2000" advTm="52"/>
    </mc:Choice>
    <mc:Fallback xmlns="">
      <p:transition spd="slow" advTm="5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09218-3B1C-BE00-89B3-A2DAD41C9FB7}"/>
              </a:ext>
            </a:extLst>
          </p:cNvPr>
          <p:cNvSpPr>
            <a:spLocks noGrp="1"/>
          </p:cNvSpPr>
          <p:nvPr>
            <p:ph type="title"/>
          </p:nvPr>
        </p:nvSpPr>
        <p:spPr/>
        <p:txBody>
          <a:bodyPr/>
          <a:lstStyle/>
          <a:p>
            <a:r>
              <a:rPr lang="en-US"/>
              <a:t>Algorithm Comparisons- Runtime</a:t>
            </a:r>
          </a:p>
        </p:txBody>
      </p:sp>
      <p:pic>
        <p:nvPicPr>
          <p:cNvPr id="4" name="Content Placeholder 3">
            <a:extLst>
              <a:ext uri="{FF2B5EF4-FFF2-40B4-BE49-F238E27FC236}">
                <a16:creationId xmlns:a16="http://schemas.microsoft.com/office/drawing/2014/main" id="{7B405596-A724-26E1-5973-BFBF24CA1B82}"/>
              </a:ext>
            </a:extLst>
          </p:cNvPr>
          <p:cNvPicPr>
            <a:picLocks noGrp="1" noChangeAspect="1"/>
          </p:cNvPicPr>
          <p:nvPr>
            <p:ph idx="1"/>
          </p:nvPr>
        </p:nvPicPr>
        <p:blipFill>
          <a:blip>
            <a:extLst>
              <a:ext uri="{96DAC541-7B7A-43D3-8B79-37D633B846F1}">
                <asvg:svgBlip xmlns:asvg="http://schemas.microsoft.com/office/drawing/2016/SVG/main" r:embed="rId4"/>
              </a:ext>
            </a:extLst>
          </a:blip>
          <a:stretch>
            <a:fillRect/>
          </a:stretch>
        </p:blipFill>
        <p:spPr>
          <a:xfrm>
            <a:off x="1917700" y="3430248"/>
            <a:ext cx="7239000" cy="3028950"/>
          </a:xfrm>
          <a:prstGeom prst="rect">
            <a:avLst/>
          </a:prstGeom>
        </p:spPr>
      </p:pic>
      <p:sp>
        <p:nvSpPr>
          <p:cNvPr id="5" name="TextBox 4">
            <a:extLst>
              <a:ext uri="{FF2B5EF4-FFF2-40B4-BE49-F238E27FC236}">
                <a16:creationId xmlns:a16="http://schemas.microsoft.com/office/drawing/2014/main" id="{B95D14E7-3B9E-1A1E-B1C9-B37EE6C1ECFB}"/>
              </a:ext>
            </a:extLst>
          </p:cNvPr>
          <p:cNvSpPr txBox="1"/>
          <p:nvPr/>
        </p:nvSpPr>
        <p:spPr>
          <a:xfrm>
            <a:off x="834710" y="1749045"/>
            <a:ext cx="966667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In theory, Bellman-Ford should have the longest running time, but as shown in the graph, Harmony Search has the longest running time. This is because a metaheuristic optimization algorithm, which means it evaluates many candidate paths before converging on a path. This is from each candidate path evaluation being more expensive in each operation than examining single edges in the other algorithms.</a:t>
            </a:r>
          </a:p>
        </p:txBody>
      </p:sp>
      <p:pic>
        <p:nvPicPr>
          <p:cNvPr id="7" name="Video 6">
            <a:hlinkClick r:id="" action="ppaction://media"/>
            <a:extLst>
              <a:ext uri="{FF2B5EF4-FFF2-40B4-BE49-F238E27FC236}">
                <a16:creationId xmlns:a16="http://schemas.microsoft.com/office/drawing/2014/main" id="{8A3F6E2B-1634-1AFD-E739-0FD8E3010080}"/>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5"/>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649190821"/>
      </p:ext>
    </p:extLst>
  </p:cSld>
  <p:clrMapOvr>
    <a:masterClrMapping/>
  </p:clrMapOvr>
  <mc:AlternateContent xmlns:mc="http://schemas.openxmlformats.org/markup-compatibility/2006" xmlns:p14="http://schemas.microsoft.com/office/powerpoint/2010/main">
    <mc:Choice Requires="p14">
      <p:transition spd="slow" p14:dur="2000" advTm="581"/>
    </mc:Choice>
    <mc:Fallback xmlns="">
      <p:transition spd="slow" advTm="5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27424-0932-2968-4A0C-BFD8487D5848}"/>
              </a:ext>
            </a:extLst>
          </p:cNvPr>
          <p:cNvSpPr>
            <a:spLocks noGrp="1"/>
          </p:cNvSpPr>
          <p:nvPr>
            <p:ph type="title"/>
          </p:nvPr>
        </p:nvSpPr>
        <p:spPr/>
        <p:txBody>
          <a:bodyPr/>
          <a:lstStyle/>
          <a:p>
            <a:r>
              <a:rPr lang="en-US"/>
              <a:t>AI Disclaimer</a:t>
            </a:r>
          </a:p>
        </p:txBody>
      </p:sp>
      <p:sp>
        <p:nvSpPr>
          <p:cNvPr id="3" name="Content Placeholder 2">
            <a:extLst>
              <a:ext uri="{FF2B5EF4-FFF2-40B4-BE49-F238E27FC236}">
                <a16:creationId xmlns:a16="http://schemas.microsoft.com/office/drawing/2014/main" id="{B548E9CE-43AA-EE36-F083-B6E5EAF9A7F6}"/>
              </a:ext>
            </a:extLst>
          </p:cNvPr>
          <p:cNvSpPr>
            <a:spLocks noGrp="1"/>
          </p:cNvSpPr>
          <p:nvPr>
            <p:ph idx="1"/>
          </p:nvPr>
        </p:nvSpPr>
        <p:spPr/>
        <p:txBody>
          <a:bodyPr vert="horz" lIns="91440" tIns="45720" rIns="91440" bIns="45720" rtlCol="0" anchor="t">
            <a:normAutofit/>
          </a:bodyPr>
          <a:lstStyle/>
          <a:p>
            <a:pPr marL="0" indent="0">
              <a:buNone/>
            </a:pPr>
            <a:r>
              <a:rPr lang="en-US">
                <a:latin typeface="Aptos"/>
                <a:ea typeface="Calibri"/>
                <a:cs typeface="Calibri"/>
              </a:rPr>
              <a:t>AI is used in this project to help give us generalized structures of how our project should look. We use it to help structure our report only to a small degree and our code while filling in the structure with our code. We also used it to help us fit the data into the code, as well as how to structure our graphs. </a:t>
            </a:r>
            <a:endParaRPr lang="en-US"/>
          </a:p>
          <a:p>
            <a:endParaRPr lang="en-US"/>
          </a:p>
        </p:txBody>
      </p:sp>
      <p:pic>
        <p:nvPicPr>
          <p:cNvPr id="6" name="Video 5">
            <a:hlinkClick r:id="" action="ppaction://media"/>
            <a:extLst>
              <a:ext uri="{FF2B5EF4-FFF2-40B4-BE49-F238E27FC236}">
                <a16:creationId xmlns:a16="http://schemas.microsoft.com/office/drawing/2014/main" id="{B864E79C-CE06-7765-9DD0-ACBA2A5E9333}"/>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4"/>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106066439"/>
      </p:ext>
    </p:extLst>
  </p:cSld>
  <p:clrMapOvr>
    <a:masterClrMapping/>
  </p:clrMapOvr>
  <mc:AlternateContent xmlns:mc="http://schemas.openxmlformats.org/markup-compatibility/2006" xmlns:p14="http://schemas.microsoft.com/office/powerpoint/2010/main">
    <mc:Choice Requires="p14">
      <p:transition spd="slow" p14:dur="2000" advTm="335"/>
    </mc:Choice>
    <mc:Fallback xmlns="">
      <p:transition spd="slow" advTm="3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03F8E-5C40-8BC5-D5AF-755A1E6CADB9}"/>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8398DE4B-1491-3F45-A84A-0ABDFDFE926D}"/>
              </a:ext>
            </a:extLst>
          </p:cNvPr>
          <p:cNvSpPr>
            <a:spLocks noGrp="1"/>
          </p:cNvSpPr>
          <p:nvPr>
            <p:ph idx="1"/>
          </p:nvPr>
        </p:nvSpPr>
        <p:spPr/>
        <p:txBody>
          <a:bodyPr vert="horz" lIns="91440" tIns="45720" rIns="91440" bIns="45720" rtlCol="0" anchor="t">
            <a:noAutofit/>
          </a:bodyPr>
          <a:lstStyle/>
          <a:p>
            <a:r>
              <a:rPr lang="en-US" sz="2000">
                <a:latin typeface="Aptos"/>
                <a:ea typeface="Calibri"/>
                <a:cs typeface="Calibri"/>
              </a:rPr>
              <a:t>[1] Jure Leskovec, “Autonomous systems by Skitter”, Stanford University </a:t>
            </a:r>
            <a:r>
              <a:rPr lang="en-US" sz="2000" u="sng">
                <a:latin typeface="Aptos"/>
                <a:ea typeface="Calibri"/>
                <a:cs typeface="Calibri"/>
                <a:hlinkClick r:id="rId4"/>
              </a:rPr>
              <a:t>https://snap.stanford.edu/data/as-Skitter.html</a:t>
            </a:r>
            <a:endParaRPr lang="en-US" sz="2000" u="sng">
              <a:latin typeface="Aptos"/>
              <a:ea typeface="Calibri"/>
              <a:cs typeface="Calibri"/>
            </a:endParaRPr>
          </a:p>
          <a:p>
            <a:r>
              <a:rPr lang="en-US" sz="2000">
                <a:latin typeface="Aptos"/>
                <a:ea typeface="Calibri"/>
                <a:cs typeface="Calibri"/>
              </a:rPr>
              <a:t>[2] Dijkstra's Algorithm, </a:t>
            </a:r>
            <a:r>
              <a:rPr lang="en-US" sz="2000">
                <a:latin typeface="Aptos"/>
                <a:ea typeface="Calibri"/>
                <a:cs typeface="Calibri"/>
                <a:hlinkClick r:id="" action="ppaction://noaction"/>
              </a:rPr>
              <a:t>https://www.geeksforgeeks. /dsa/dijkstras-shortest-path</a:t>
            </a:r>
            <a:r>
              <a:rPr lang="en-US" sz="2000">
                <a:latin typeface="Aptos"/>
                <a:ea typeface="Calibri"/>
                <a:cs typeface="Calibri"/>
              </a:rPr>
              <a:t> algorithm-greedy-algo-7/ </a:t>
            </a:r>
          </a:p>
          <a:p>
            <a:r>
              <a:rPr lang="en-US" sz="2000">
                <a:latin typeface="Aptos"/>
                <a:ea typeface="Calibri"/>
                <a:cs typeface="Calibri"/>
              </a:rPr>
              <a:t>[3] Levitin, Anany. "“Introduction to the Design and Analysis of Algorithms”, Pearson Education, 2012." (2015).</a:t>
            </a:r>
          </a:p>
          <a:p>
            <a:r>
              <a:rPr lang="en-US" sz="2000">
                <a:latin typeface="Aptos"/>
                <a:ea typeface="Calibri"/>
                <a:cs typeface="Calibri"/>
              </a:rPr>
              <a:t>[4] Bellman-Ford Algorithm, </a:t>
            </a:r>
            <a:r>
              <a:rPr lang="en-US" sz="2000">
                <a:latin typeface="Aptos"/>
                <a:ea typeface="Calibri"/>
                <a:cs typeface="Calibri"/>
                <a:hlinkClick r:id="rId5"/>
              </a:rPr>
              <a:t>https://www.geeksforgeeks.org/dsa/bellman-ford</a:t>
            </a:r>
            <a:r>
              <a:rPr lang="en-US" sz="2000">
                <a:latin typeface="Aptos"/>
                <a:ea typeface="Calibri"/>
                <a:cs typeface="Calibri"/>
              </a:rPr>
              <a:t> algorithm-dp-23/</a:t>
            </a:r>
          </a:p>
          <a:p>
            <a:r>
              <a:rPr lang="en-US" sz="2000">
                <a:latin typeface="Aptos"/>
                <a:ea typeface="Calibri"/>
                <a:cs typeface="Calibri"/>
              </a:rPr>
              <a:t>[5] A* Search Algorithm, </a:t>
            </a:r>
            <a:r>
              <a:rPr lang="en-US" sz="2000">
                <a:latin typeface="Aptos"/>
                <a:ea typeface="Calibri"/>
                <a:cs typeface="Calibri"/>
                <a:hlinkClick r:id="rId6"/>
              </a:rPr>
              <a:t>https://www.geeksforgeeks.org/artificial-intelligence/a</a:t>
            </a:r>
            <a:r>
              <a:rPr lang="en-US" sz="2000">
                <a:latin typeface="Aptos"/>
                <a:ea typeface="Calibri"/>
                <a:cs typeface="Calibri"/>
              </a:rPr>
              <a:t> algorithm-and-its-heuristic-search-strategy-in-artificial-intelligence/</a:t>
            </a:r>
          </a:p>
          <a:p>
            <a:r>
              <a:rPr lang="en-US" sz="2000">
                <a:latin typeface="Aptos"/>
                <a:ea typeface="Calibri"/>
                <a:cs typeface="Calibri"/>
              </a:rPr>
              <a:t>[6] </a:t>
            </a:r>
            <a:r>
              <a:rPr lang="en-US" sz="2000" err="1">
                <a:latin typeface="Aptos"/>
                <a:ea typeface="Calibri"/>
                <a:cs typeface="Calibri"/>
              </a:rPr>
              <a:t>Geem</a:t>
            </a:r>
            <a:r>
              <a:rPr lang="en-US" sz="2000">
                <a:latin typeface="Aptos"/>
                <a:ea typeface="Calibri"/>
                <a:cs typeface="Calibri"/>
              </a:rPr>
              <a:t>, Z. W., Kim, J. H., &amp; Loganathan, G. V. (2001). "A New Heuristic Optimization Algorithm: Harmony Search." Simulation, 76(2), 60–68. DOI: 10.1177/003754970107600201</a:t>
            </a:r>
            <a:endParaRPr lang="en-US" sz="2000"/>
          </a:p>
          <a:p>
            <a:endParaRPr lang="en-US" sz="2000">
              <a:latin typeface="Aptos"/>
              <a:ea typeface="Calibri"/>
              <a:cs typeface="Calibri"/>
            </a:endParaRPr>
          </a:p>
        </p:txBody>
      </p:sp>
      <p:pic>
        <p:nvPicPr>
          <p:cNvPr id="6" name="Video 5">
            <a:hlinkClick r:id="" action="ppaction://media"/>
            <a:extLst>
              <a:ext uri="{FF2B5EF4-FFF2-40B4-BE49-F238E27FC236}">
                <a16:creationId xmlns:a16="http://schemas.microsoft.com/office/drawing/2014/main" id="{D23C5377-1E19-4F10-3787-A645F0194CB6}"/>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7"/>
          <a:srcRect l="12500" r="1250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099786141"/>
      </p:ext>
    </p:extLst>
  </p:cSld>
  <p:clrMapOvr>
    <a:masterClrMapping/>
  </p:clrMapOvr>
  <mc:AlternateContent xmlns:mc="http://schemas.openxmlformats.org/markup-compatibility/2006" xmlns:p14="http://schemas.microsoft.com/office/powerpoint/2010/main">
    <mc:Choice Requires="p14">
      <p:transition spd="slow" p14:dur="2000" advTm="1376"/>
    </mc:Choice>
    <mc:Fallback xmlns="">
      <p:transition spd="slow" advTm="13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Network Optimization Analysis &amp; Comparison</vt:lpstr>
      <vt:lpstr>Network Optimization Concept</vt:lpstr>
      <vt:lpstr>Objective</vt:lpstr>
      <vt:lpstr>Dijkstra Analysis</vt:lpstr>
      <vt:lpstr>Bellman-Ford Analysis</vt:lpstr>
      <vt:lpstr>A* Search Analysis</vt:lpstr>
      <vt:lpstr>Harmony Search Analysis</vt:lpstr>
      <vt:lpstr>Dijkstra Graph Runtime Code Analysis</vt:lpstr>
      <vt:lpstr>Bellman Ford Graph Runtime Code Analysis</vt:lpstr>
      <vt:lpstr>A* Search Graph Runtime Code Analysis</vt:lpstr>
      <vt:lpstr>Harmony Search Graph Runtime Code Analysis</vt:lpstr>
      <vt:lpstr>Algorithm Comparisons with Real-World Networks</vt:lpstr>
      <vt:lpstr>Algorithm Comparison Notes</vt:lpstr>
      <vt:lpstr>Algorithm Comparisons- Basic Operations</vt:lpstr>
      <vt:lpstr>Algorithm Comparisons- Path Cost</vt:lpstr>
      <vt:lpstr>Algorithm Comparisons- Peak Memory Usage</vt:lpstr>
      <vt:lpstr>Algorithm Comparisons- Runtime</vt:lpstr>
      <vt:lpstr>AI Disclaimer</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2026-07-21T21:59:47Z</dcterms:created>
  <dcterms:modified xsi:type="dcterms:W3CDTF">2026-07-29T01:36:14Z</dcterms:modified>
</cp:coreProperties>
</file>